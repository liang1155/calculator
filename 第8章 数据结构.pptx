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sldIdLst>
    <p:sldId id="257" r:id="rId2"/>
    <p:sldId id="336" r:id="rId3"/>
    <p:sldId id="337" r:id="rId4"/>
    <p:sldId id="338" r:id="rId5"/>
    <p:sldId id="339" r:id="rId6"/>
    <p:sldId id="340" r:id="rId7"/>
    <p:sldId id="341" r:id="rId8"/>
    <p:sldId id="342" r:id="rId9"/>
    <p:sldId id="343" r:id="rId10"/>
    <p:sldId id="344" r:id="rId11"/>
    <p:sldId id="345" r:id="rId12"/>
    <p:sldId id="346" r:id="rId13"/>
    <p:sldId id="347" r:id="rId14"/>
    <p:sldId id="348" r:id="rId15"/>
    <p:sldId id="349" r:id="rId16"/>
    <p:sldId id="350" r:id="rId17"/>
    <p:sldId id="351" r:id="rId18"/>
    <p:sldId id="352" r:id="rId19"/>
    <p:sldId id="353" r:id="rId20"/>
    <p:sldId id="354" r:id="rId21"/>
    <p:sldId id="355" r:id="rId22"/>
    <p:sldId id="356" r:id="rId23"/>
    <p:sldId id="357" r:id="rId24"/>
    <p:sldId id="358" r:id="rId25"/>
    <p:sldId id="359" r:id="rId26"/>
    <p:sldId id="360" r:id="rId27"/>
    <p:sldId id="361" r:id="rId28"/>
    <p:sldId id="362" r:id="rId29"/>
    <p:sldId id="363" r:id="rId30"/>
    <p:sldId id="364" r:id="rId31"/>
    <p:sldId id="365" r:id="rId32"/>
    <p:sldId id="366" r:id="rId33"/>
    <p:sldId id="367" r:id="rId34"/>
    <p:sldId id="368" r:id="rId35"/>
    <p:sldId id="369" r:id="rId36"/>
    <p:sldId id="370" r:id="rId37"/>
    <p:sldId id="371" r:id="rId38"/>
    <p:sldId id="372" r:id="rId39"/>
    <p:sldId id="373" r:id="rId40"/>
    <p:sldId id="374" r:id="rId41"/>
    <p:sldId id="375" r:id="rId42"/>
    <p:sldId id="376" r:id="rId43"/>
    <p:sldId id="377" r:id="rId44"/>
    <p:sldId id="378" r:id="rId45"/>
    <p:sldId id="379" r:id="rId46"/>
    <p:sldId id="380" r:id="rId47"/>
    <p:sldId id="381" r:id="rId48"/>
    <p:sldId id="382" r:id="rId49"/>
    <p:sldId id="383" r:id="rId50"/>
    <p:sldId id="384" r:id="rId51"/>
    <p:sldId id="385" r:id="rId52"/>
    <p:sldId id="386" r:id="rId53"/>
    <p:sldId id="387" r:id="rId54"/>
    <p:sldId id="388" r:id="rId55"/>
    <p:sldId id="389" r:id="rId56"/>
    <p:sldId id="390" r:id="rId57"/>
    <p:sldId id="391" r:id="rId58"/>
    <p:sldId id="392" r:id="rId59"/>
    <p:sldId id="393" r:id="rId60"/>
    <p:sldId id="394" r:id="rId61"/>
    <p:sldId id="395" r:id="rId62"/>
    <p:sldId id="396" r:id="rId63"/>
    <p:sldId id="397" r:id="rId64"/>
    <p:sldId id="398" r:id="rId65"/>
    <p:sldId id="399" r:id="rId66"/>
    <p:sldId id="335" r:id="rId6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7"/>
    <a:srgbClr val="9292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147AF4-45A3-4A56-A6CC-B5BEA54C009E}" type="datetimeFigureOut">
              <a:rPr lang="zh-CN" altLang="en-US" smtClean="0"/>
              <a:t>2025/9/20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9D8886-607F-4C90-9057-80927CAE22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882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D329E3-A3BB-22A9-7A02-8C0E49B169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05778"/>
            <a:ext cx="9144000" cy="2387600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72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35ADD68-A283-8804-4EDA-4E76BB7C56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5B90B0-6B97-ED3F-68AB-3A7A19C765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2194560" cy="365125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536CAC6-0FDD-41EF-A81A-0820DD54FD25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53B221-E8ED-FE8E-4EC7-A712E7011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2332" y="6356349"/>
            <a:ext cx="5405436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教材：张学</a:t>
            </a:r>
            <a:r>
              <a:rPr lang="en-US" altLang="zh-CN" dirty="0"/>
              <a:t>《C</a:t>
            </a:r>
            <a:r>
              <a:rPr lang="zh-CN" altLang="en-US" dirty="0"/>
              <a:t>语言程序设计讲义</a:t>
            </a:r>
            <a:r>
              <a:rPr lang="en-US" altLang="zh-CN" dirty="0"/>
              <a:t>》</a:t>
            </a:r>
            <a:r>
              <a:rPr lang="zh-CN" altLang="en-US" dirty="0"/>
              <a:t>清华大学出版社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76C198-BFEF-55B5-0E10-7943621C9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10725" y="6356350"/>
            <a:ext cx="2194560" cy="365125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0B06FD7-D3D8-4931-A61F-A263E2CB9705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7113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5BC633-4FEF-67FB-E54A-99D01E2D4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275" y="365126"/>
            <a:ext cx="10296525" cy="886626"/>
          </a:xfrm>
        </p:spPr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F937C5-5F7D-2D3B-59F1-45AA53CD4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0873"/>
            <a:ext cx="10515600" cy="4854190"/>
          </a:xfrm>
        </p:spPr>
        <p:txBody>
          <a:bodyPr/>
          <a:lstStyle>
            <a:lvl1pPr marL="342000" indent="-342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62000"/>
              <a:buFont typeface="Wingdings" panose="05000000000000000000" pitchFamily="2" charset="2"/>
              <a:buChar char="n"/>
              <a:defRPr sz="3600" b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3420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77000"/>
              <a:buFont typeface="Wingdings" panose="05000000000000000000" pitchFamily="2" charset="2"/>
              <a:buChar char="Ø"/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08000" indent="-2160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62000"/>
              <a:buFont typeface="Arial" panose="020B0604020202020204" pitchFamily="34" charset="0"/>
              <a:buChar char="•"/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buFont typeface="Wingdings" panose="05000000000000000000" pitchFamily="2" charset="2"/>
              <a:buChar char="n"/>
              <a:defRPr/>
            </a:lvl4pPr>
            <a:lvl5pPr marL="2057400" indent="-228600">
              <a:buFont typeface="Wingdings" panose="05000000000000000000" pitchFamily="2" charset="2"/>
              <a:buChar char="n"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20" name="日期占位符 3">
            <a:extLst>
              <a:ext uri="{FF2B5EF4-FFF2-40B4-BE49-F238E27FC236}">
                <a16:creationId xmlns:a16="http://schemas.microsoft.com/office/drawing/2014/main" id="{AAA26B85-E753-3A73-64BA-107DEA1461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2194560" cy="365125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21" name="页脚占位符 4">
            <a:extLst>
              <a:ext uri="{FF2B5EF4-FFF2-40B4-BE49-F238E27FC236}">
                <a16:creationId xmlns:a16="http://schemas.microsoft.com/office/drawing/2014/main" id="{07AFF507-BBCA-EA6C-D595-17565697E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2332" y="6356349"/>
            <a:ext cx="5405436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教材：张学</a:t>
            </a:r>
            <a:r>
              <a:rPr lang="en-US" altLang="zh-CN" dirty="0"/>
              <a:t>《C</a:t>
            </a:r>
            <a:r>
              <a:rPr lang="zh-CN" altLang="en-US" dirty="0"/>
              <a:t>语言程序设计讲义</a:t>
            </a:r>
            <a:r>
              <a:rPr lang="en-US" altLang="zh-CN" dirty="0"/>
              <a:t>》</a:t>
            </a:r>
            <a:r>
              <a:rPr lang="zh-CN" altLang="en-US" dirty="0"/>
              <a:t>清华大学出版社</a:t>
            </a:r>
          </a:p>
        </p:txBody>
      </p:sp>
      <p:sp>
        <p:nvSpPr>
          <p:cNvPr id="22" name="灯片编号占位符 5">
            <a:extLst>
              <a:ext uri="{FF2B5EF4-FFF2-40B4-BE49-F238E27FC236}">
                <a16:creationId xmlns:a16="http://schemas.microsoft.com/office/drawing/2014/main" id="{3C74EBF7-61F8-942B-B4FA-1E00B9E7B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10725" y="6356350"/>
            <a:ext cx="2194560" cy="365125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0B06FD7-D3D8-4931-A61F-A263E2CB9705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206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120036-B1D2-C776-CC1C-488B25E7C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85A2E1-4418-CC8D-2323-CF65D2600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02E30A-212E-AC6D-41AD-FC1D36E9E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8625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AAAF10-F9EF-4AD8-BE21-06D5F34A331F}" type="datetime1">
              <a:rPr lang="zh-CN" altLang="en-US" smtClean="0"/>
              <a:t>2025/9/20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862A68-AF27-EC8D-BF87-2AEDFF030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650" y="6356350"/>
            <a:ext cx="577215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3448B1-2310-06E3-C9C3-5FFE1FA7C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B06FD7-D3D8-4931-A61F-A263E2CB97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916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A2ECBD-EA0C-7E6D-9176-399A82663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AEA53A-8ED8-6975-4ADA-AD2A93D9DF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C2320A-4880-374C-3D27-D39385FD6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53C0CC-DC9D-9192-9870-837FFE6B86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8625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F6A3C6-E4C7-4C7D-A394-28F2986F3793}" type="datetime1">
              <a:rPr lang="zh-CN" altLang="en-US" smtClean="0"/>
              <a:t>2025/9/20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4E5B58-9483-D339-E521-E1F26B8AB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650" y="6356350"/>
            <a:ext cx="577215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B43012-70FA-0363-579B-B288A452C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B06FD7-D3D8-4931-A61F-A263E2CB97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879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D9AB55-26B4-C2C9-0A12-7978577AE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0763" y="107950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A2A5ED-6C8F-A4B9-2511-3210FAF63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D8235F-1B7F-0DFF-69DC-BC0BAD317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0838959-2BC2-2F20-C2B4-472BC2F15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BDA6232-C9C2-9508-86F8-9FB0A8B36B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BDB5F3F-A111-FDF6-B033-F7ECDCCF04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8625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17E0A87-AF9A-4184-B44F-BCCD3C4EE0C9}" type="datetime1">
              <a:rPr lang="zh-CN" altLang="en-US" smtClean="0"/>
              <a:t>2025/9/20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EE95EA4-4C79-F699-DC00-B7E482BC8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650" y="6356350"/>
            <a:ext cx="577215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978A3CD-CBD1-FDEF-E7DA-4AD6CC3F5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B06FD7-D3D8-4931-A61F-A263E2CB97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454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2370D4-67C4-910D-38A3-EC8FF6D49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7872E8B-855F-CC28-47A0-18D8379CA6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8625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029EE3-03D9-48C8-A180-16DB448E6377}" type="datetime1">
              <a:rPr lang="zh-CN" altLang="en-US" smtClean="0"/>
              <a:t>2025/9/20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9A3FE20-09EC-2337-965C-05D9BBDFE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650" y="6356350"/>
            <a:ext cx="577215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8B076F3-65EF-B8C3-5795-DC0FE8108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B06FD7-D3D8-4931-A61F-A263E2CB97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8747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149F853-F514-26AC-D6D8-427759EDCA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8625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EE27BB-B952-44E6-85D2-010F15422A47}" type="datetime1">
              <a:rPr lang="zh-CN" altLang="en-US" smtClean="0"/>
              <a:t>2025/9/20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A1EA4CA-1390-1E36-0FB7-9F3DA244D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650" y="6356350"/>
            <a:ext cx="577215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55CAC2-AF63-4A57-AA83-A3009AD71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B06FD7-D3D8-4931-A61F-A263E2CB97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002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9B82AA-4EB0-EEFC-7CCF-E63539307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566A4F-7521-DCD6-15B1-32E06A564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AD2B4A-D907-AF0D-260B-3052684D86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CD5972-04C6-AC31-82FF-4B238C65BF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8625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231228-81DA-46FF-8597-3EAFB0DF4AEC}" type="datetime1">
              <a:rPr lang="zh-CN" altLang="en-US" smtClean="0"/>
              <a:t>2025/9/20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49FABD-927D-3671-D144-6BFEF9632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650" y="6356350"/>
            <a:ext cx="577215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A9A6C3-6915-F7D0-ADF2-C9FAA533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B06FD7-D3D8-4931-A61F-A263E2CB97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8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3EA9FF-E597-423F-7AC3-22E02F1F0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9DDAEA8-571D-44E1-B07D-7EBAAF5EE5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4189BB-040D-C56D-10E4-8CDC2706C3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A43419-8270-1F6A-0E6E-C941D039BB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8625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B268C80-47FE-49E4-B4B9-35F34F2FF947}" type="datetime1">
              <a:rPr lang="zh-CN" altLang="en-US" smtClean="0"/>
              <a:t>2025/9/20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978C85-2B74-56DF-BE36-8E250562A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650" y="6356350"/>
            <a:ext cx="577215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9A92EB-C413-ED0F-6EDC-586121B94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B06FD7-D3D8-4931-A61F-A263E2CB97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846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A64B2D-2864-5A63-E685-818A34141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D23E59-963D-A325-E667-AE8947D7B8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00BD1F-1C08-EBDA-1731-AF1ACB44F6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8625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802BD2-6A3E-4BF6-B907-E68A90E4224D}" type="datetime1">
              <a:rPr lang="zh-CN" altLang="en-US" smtClean="0"/>
              <a:t>2025/9/20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E55FEB-9DA5-8FD9-DF30-F60226E34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650" y="6356350"/>
            <a:ext cx="577215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F73148-CB80-ED78-A7B9-81F113F26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B06FD7-D3D8-4931-A61F-A263E2CB97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85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33FC39E-5374-0986-C26F-9506C033BF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F7B6DBF-5D65-1CCF-07A2-DD5F3C5869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6CEFB6-9867-2084-6195-FD954849A7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8625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5A83E4-021B-4ADA-B497-33E3C8CA3B11}" type="datetime1">
              <a:rPr lang="zh-CN" altLang="en-US" smtClean="0"/>
              <a:t>2025/9/20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F9C57F-E457-B8E0-E1F8-4B95CDD8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650" y="6356350"/>
            <a:ext cx="577215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2F9627-2931-361E-24C4-215A09AA3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B06FD7-D3D8-4931-A61F-A263E2CB97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423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CD2B0D2-2D0B-988E-F12E-C17B5C68E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425" y="384175"/>
            <a:ext cx="10515600" cy="8777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2E0FA0-B9B0-752E-4D10-2B5E4826A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13895"/>
            <a:ext cx="10515600" cy="48630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B4E5F063-A115-8C57-66C5-0756FB5F3B9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4775" y="314319"/>
            <a:ext cx="8125824" cy="1006286"/>
            <a:chOff x="0" y="1536"/>
            <a:chExt cx="5675" cy="663"/>
          </a:xfrm>
        </p:grpSpPr>
        <p:grpSp>
          <p:nvGrpSpPr>
            <p:cNvPr id="8" name="Group 3">
              <a:extLst>
                <a:ext uri="{FF2B5EF4-FFF2-40B4-BE49-F238E27FC236}">
                  <a16:creationId xmlns:a16="http://schemas.microsoft.com/office/drawing/2014/main" id="{60256762-F6FA-4801-C69F-2776FC0EDB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5" name="Rectangle 4">
                <a:extLst>
                  <a:ext uri="{FF2B5EF4-FFF2-40B4-BE49-F238E27FC236}">
                    <a16:creationId xmlns:a16="http://schemas.microsoft.com/office/drawing/2014/main" id="{7F0BEE3B-AD80-F534-03EC-BB9BE0C241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rgbClr val="92929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6" name="Rectangle 5">
                <a:extLst>
                  <a:ext uri="{FF2B5EF4-FFF2-40B4-BE49-F238E27FC236}">
                    <a16:creationId xmlns:a16="http://schemas.microsoft.com/office/drawing/2014/main" id="{E21185CD-8576-8ABF-17E9-5B55239E2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flip="none" rotWithShape="1">
                <a:gsLst>
                  <a:gs pos="6000">
                    <a:srgbClr val="929292">
                      <a:tint val="66000"/>
                      <a:satMod val="160000"/>
                    </a:srgbClr>
                  </a:gs>
                  <a:gs pos="50000">
                    <a:srgbClr val="929292">
                      <a:tint val="44500"/>
                      <a:satMod val="160000"/>
                    </a:srgbClr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9" name="Group 6">
              <a:extLst>
                <a:ext uri="{FF2B5EF4-FFF2-40B4-BE49-F238E27FC236}">
                  <a16:creationId xmlns:a16="http://schemas.microsoft.com/office/drawing/2014/main" id="{7E31E593-7DC4-65B1-5626-B782B617D4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3" name="Rectangle 7">
                <a:extLst>
                  <a:ext uri="{FF2B5EF4-FFF2-40B4-BE49-F238E27FC236}">
                    <a16:creationId xmlns:a16="http://schemas.microsoft.com/office/drawing/2014/main" id="{CCD84F74-44F6-8624-DBA8-E43522990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4" name="Rectangle 8">
                <a:extLst>
                  <a:ext uri="{FF2B5EF4-FFF2-40B4-BE49-F238E27FC236}">
                    <a16:creationId xmlns:a16="http://schemas.microsoft.com/office/drawing/2014/main" id="{938A87BF-3733-8596-4F70-FE1AA7ED2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BD50C0A-BE6A-3931-34AB-48BEBF5BA2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flip="none" rotWithShape="1">
              <a:gsLst>
                <a:gs pos="0">
                  <a:srgbClr val="2F5597"/>
                </a:gs>
                <a:gs pos="50000">
                  <a:srgbClr val="2F5597">
                    <a:tint val="44500"/>
                    <a:satMod val="160000"/>
                  </a:srgbClr>
                </a:gs>
                <a:gs pos="100000">
                  <a:schemeClr val="bg1"/>
                </a:gs>
              </a:gsLst>
              <a:lin ang="8100000" scaled="1"/>
              <a:tileRect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9B220FF-7E6B-2623-D6D1-D2CBF9D0F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CF9612B-0F69-3088-E288-6FA7ADF9237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30" name="日期占位符 3">
            <a:extLst>
              <a:ext uri="{FF2B5EF4-FFF2-40B4-BE49-F238E27FC236}">
                <a16:creationId xmlns:a16="http://schemas.microsoft.com/office/drawing/2014/main" id="{488EFD6C-A760-E2FC-7929-1CF78D9C63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194560" cy="365125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29044BD-136C-4849-B65C-1680DC708407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31" name="页脚占位符 4">
            <a:extLst>
              <a:ext uri="{FF2B5EF4-FFF2-40B4-BE49-F238E27FC236}">
                <a16:creationId xmlns:a16="http://schemas.microsoft.com/office/drawing/2014/main" id="{EA486E60-907E-C425-FB23-48B0FD808C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12332" y="6356349"/>
            <a:ext cx="5405436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教材：张学</a:t>
            </a:r>
            <a:r>
              <a:rPr lang="en-US" altLang="zh-CN" dirty="0"/>
              <a:t>《C</a:t>
            </a:r>
            <a:r>
              <a:rPr lang="zh-CN" altLang="en-US" dirty="0"/>
              <a:t>语言程序设计讲义</a:t>
            </a:r>
            <a:r>
              <a:rPr lang="en-US" altLang="zh-CN" dirty="0"/>
              <a:t>》</a:t>
            </a:r>
            <a:r>
              <a:rPr lang="zh-CN" altLang="en-US" dirty="0"/>
              <a:t>清华大学出版社</a:t>
            </a:r>
          </a:p>
        </p:txBody>
      </p:sp>
      <p:sp>
        <p:nvSpPr>
          <p:cNvPr id="32" name="灯片编号占位符 5">
            <a:extLst>
              <a:ext uri="{FF2B5EF4-FFF2-40B4-BE49-F238E27FC236}">
                <a16:creationId xmlns:a16="http://schemas.microsoft.com/office/drawing/2014/main" id="{929F7185-D8D9-7115-D285-89F23C204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10725" y="6356350"/>
            <a:ext cx="2194560" cy="365125"/>
          </a:xfrm>
          <a:prstGeom prst="rect">
            <a:avLst/>
          </a:prstGeom>
        </p:spPr>
        <p:txBody>
          <a:bodyPr/>
          <a:lstStyle>
            <a:lvl1pPr algn="r"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0B06FD7-D3D8-4931-A61F-A263E2CB9705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1205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>
              <a:lumMod val="7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42000" indent="-342000" algn="l" defTabSz="914400" rtl="0" eaLnBrk="1" latinLnBrk="0" hangingPunct="1">
        <a:lnSpc>
          <a:spcPct val="125000"/>
        </a:lnSpc>
        <a:spcBef>
          <a:spcPts val="600"/>
        </a:spcBef>
        <a:spcAft>
          <a:spcPts val="600"/>
        </a:spcAft>
        <a:buClr>
          <a:srgbClr val="0070C0"/>
        </a:buClr>
        <a:buSzPct val="62000"/>
        <a:buFont typeface="Wingdings" panose="05000000000000000000" pitchFamily="2" charset="2"/>
        <a:buChar char="n"/>
        <a:defRPr sz="3600" kern="1200">
          <a:solidFill>
            <a:schemeClr val="accent1">
              <a:lumMod val="7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342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070C0"/>
        </a:buClr>
        <a:buFont typeface="Wingdings" panose="05000000000000000000" pitchFamily="2" charset="2"/>
        <a:buChar char="Ø"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0C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9379FD-FBBE-5EAB-2B99-FD47D472AE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8</a:t>
            </a:r>
            <a:r>
              <a:rPr lang="zh-CN" altLang="en-US" dirty="0"/>
              <a:t>章  数据结构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525EAAF-E0BB-3DF2-4987-B9B3DB7910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78238"/>
            <a:ext cx="9144000" cy="16557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张 学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ynz929@qq.com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日期占位符 12">
            <a:extLst>
              <a:ext uri="{FF2B5EF4-FFF2-40B4-BE49-F238E27FC236}">
                <a16:creationId xmlns:a16="http://schemas.microsoft.com/office/drawing/2014/main" id="{7D57AFAD-DF88-3C94-1A31-C7B03C4CE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BFBF8-32E4-45C4-BD29-29CAF658F9E8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14" name="页脚占位符 13">
            <a:extLst>
              <a:ext uri="{FF2B5EF4-FFF2-40B4-BE49-F238E27FC236}">
                <a16:creationId xmlns:a16="http://schemas.microsoft.com/office/drawing/2014/main" id="{0F64575F-6095-3EA9-B54C-8BD4F913E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247887EA-E5C5-07A5-0952-53AC41F73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9177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C968CA-B084-1D07-A1DA-944171C5B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定义新的数据类型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55FC62-9AEC-AE5E-E4EF-69A2FB95C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typedef int Integer;</a:t>
            </a:r>
          </a:p>
          <a:p>
            <a:pPr lvl="1"/>
            <a:r>
              <a:rPr lang="zh-CN" altLang="en-US" dirty="0"/>
              <a:t>这条语句定义了一个新的数据类型</a:t>
            </a:r>
            <a:r>
              <a:rPr lang="en-US" altLang="zh-CN" dirty="0"/>
              <a:t>Integer</a:t>
            </a:r>
          </a:p>
          <a:p>
            <a:pPr lvl="1"/>
            <a:r>
              <a:rPr lang="en-US" altLang="zh-CN" dirty="0"/>
              <a:t>Integer </a:t>
            </a:r>
            <a:r>
              <a:rPr lang="en-US" altLang="zh-CN" dirty="0" err="1"/>
              <a:t>i</a:t>
            </a:r>
            <a:r>
              <a:rPr lang="en-US" altLang="zh-CN" dirty="0"/>
              <a:t>;  </a:t>
            </a:r>
          </a:p>
          <a:p>
            <a:r>
              <a:rPr lang="en-US" altLang="zh-CN" dirty="0"/>
              <a:t>typedef</a:t>
            </a:r>
            <a:r>
              <a:rPr lang="zh-CN" altLang="en-US" dirty="0"/>
              <a:t>的用法</a:t>
            </a:r>
            <a:endParaRPr lang="en-US" altLang="zh-CN" dirty="0"/>
          </a:p>
          <a:p>
            <a:pPr lvl="1"/>
            <a:r>
              <a:rPr lang="zh-CN" altLang="en-US" dirty="0"/>
              <a:t>先定义一个变量；</a:t>
            </a:r>
            <a:endParaRPr lang="en-US" altLang="zh-CN" dirty="0"/>
          </a:p>
          <a:p>
            <a:pPr lvl="1"/>
            <a:r>
              <a:rPr lang="zh-CN" altLang="en-US" dirty="0"/>
              <a:t>在前面加上</a:t>
            </a:r>
            <a:r>
              <a:rPr lang="en-US" altLang="zh-CN" dirty="0"/>
              <a:t>typedef</a:t>
            </a:r>
            <a:r>
              <a:rPr lang="zh-CN" altLang="en-US" dirty="0"/>
              <a:t>之后，变量名就变成了类型名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518293-5744-25FD-098F-248555D3A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53A715-FA35-8CC5-B202-5E40179FE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DACEDD-07A9-E9B8-D594-647C3786D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477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FD103-B06A-A1F7-5D53-D7BD74020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枚举类型：值可以枚举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224999-5FAC-422C-BCBF-B6E2763D0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例如性别、月份、四季、扑克牌花色等</a:t>
            </a:r>
            <a:endParaRPr lang="en-US" altLang="zh-CN" dirty="0"/>
          </a:p>
          <a:p>
            <a:pPr lvl="1"/>
            <a:r>
              <a:rPr lang="en-US" altLang="zh-CN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typedef </a:t>
            </a:r>
            <a:r>
              <a:rPr lang="en-US" altLang="zh-CN" dirty="0" err="1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enum</a:t>
            </a:r>
            <a:r>
              <a:rPr lang="en-US" altLang="zh-CN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{FEMALE=0,MALE=1}Sex;</a:t>
            </a:r>
          </a:p>
          <a:p>
            <a:pPr lvl="1"/>
            <a:r>
              <a:rPr lang="en-US" altLang="zh-CN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typedef </a:t>
            </a:r>
            <a:r>
              <a:rPr lang="en-US" altLang="zh-CN" dirty="0" err="1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enum</a:t>
            </a:r>
            <a:r>
              <a:rPr lang="en-US" altLang="zh-CN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{CLUB,DIAMOND,HEART,SPADE}Suit;</a:t>
            </a:r>
          </a:p>
          <a:p>
            <a:pPr lvl="1"/>
            <a:r>
              <a:rPr lang="en-US" altLang="zh-CN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Sex </a:t>
            </a:r>
            <a:r>
              <a:rPr lang="en-US" altLang="zh-CN" dirty="0" err="1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sex</a:t>
            </a:r>
            <a:r>
              <a:rPr lang="en-US" altLang="zh-CN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;</a:t>
            </a:r>
          </a:p>
          <a:p>
            <a:pPr lvl="1"/>
            <a:r>
              <a:rPr lang="en-US" altLang="zh-CN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Suit </a:t>
            </a:r>
            <a:r>
              <a:rPr lang="en-US" altLang="zh-CN" dirty="0" err="1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suit</a:t>
            </a:r>
            <a:r>
              <a:rPr lang="en-US" altLang="zh-CN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;</a:t>
            </a:r>
          </a:p>
          <a:p>
            <a:pPr lvl="1"/>
            <a:r>
              <a:rPr lang="en-US" altLang="zh-CN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sex=FEMALE;</a:t>
            </a:r>
          </a:p>
          <a:p>
            <a:pPr lvl="1"/>
            <a:r>
              <a:rPr lang="en-US" altLang="zh-CN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suit=HEART;</a:t>
            </a:r>
            <a:endParaRPr lang="zh-CN" altLang="en-US" dirty="0">
              <a:latin typeface="Consolas" panose="020B0609020204030204" pitchFamily="49" charset="0"/>
              <a:cs typeface="Tahoma" panose="020B0604030504040204" pitchFamily="34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37A822-2699-BA33-387E-1B3D976A7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6FEFAE-2C5F-98A0-0B4F-A97A7F351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7313D4-6F23-2AEC-3FB1-5BA526D82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3881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48180-C7D6-446F-C5A0-85A41091E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DECCAD-0A11-7906-BD42-75286C7E6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布尔类型：取值真或假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016E11-8FE2-F243-954E-4CE8640B0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C89</a:t>
            </a:r>
            <a:r>
              <a:rPr lang="zh-CN" altLang="en-US" dirty="0"/>
              <a:t>未提供布尔类型，所以程序员要自己定义</a:t>
            </a:r>
            <a:endParaRPr lang="en-US" altLang="zh-CN" dirty="0"/>
          </a:p>
          <a:p>
            <a:pPr marL="343800" lvl="1" indent="0">
              <a:buNone/>
            </a:pPr>
            <a:r>
              <a:rPr lang="en-US" altLang="zh-CN" dirty="0">
                <a:latin typeface="Consolas" panose="020B0609020204030204" pitchFamily="49" charset="0"/>
              </a:rPr>
              <a:t>typedef </a:t>
            </a:r>
            <a:r>
              <a:rPr lang="en-US" altLang="zh-CN" dirty="0" err="1">
                <a:latin typeface="Consolas" panose="020B0609020204030204" pitchFamily="49" charset="0"/>
              </a:rPr>
              <a:t>enum</a:t>
            </a:r>
            <a:r>
              <a:rPr lang="en-US" altLang="zh-CN" dirty="0">
                <a:latin typeface="Consolas" panose="020B0609020204030204" pitchFamily="49" charset="0"/>
              </a:rPr>
              <a:t> {FALSE=0, TRUE=1} Bool;</a:t>
            </a:r>
          </a:p>
          <a:p>
            <a:r>
              <a:rPr lang="en-US" altLang="zh-CN" dirty="0"/>
              <a:t>C99</a:t>
            </a:r>
            <a:r>
              <a:rPr lang="zh-CN" altLang="en-US" dirty="0"/>
              <a:t>提供布尔类型，为避免冲突，取名 </a:t>
            </a:r>
            <a:r>
              <a:rPr lang="en-US" altLang="zh-CN" dirty="0"/>
              <a:t>_Bool</a:t>
            </a:r>
            <a:r>
              <a:rPr lang="zh-CN" altLang="en-US" dirty="0"/>
              <a:t>，并引入</a:t>
            </a:r>
            <a:r>
              <a:rPr lang="en-US" altLang="zh-CN" dirty="0" err="1"/>
              <a:t>stdbool.h</a:t>
            </a:r>
            <a:r>
              <a:rPr lang="zh-CN" altLang="en-US" dirty="0"/>
              <a:t>，定义</a:t>
            </a:r>
            <a:r>
              <a:rPr lang="en-US" altLang="zh-CN" dirty="0"/>
              <a:t>bool</a:t>
            </a:r>
            <a:r>
              <a:rPr lang="zh-CN" altLang="en-US" dirty="0"/>
              <a:t>、</a:t>
            </a:r>
            <a:r>
              <a:rPr lang="en-US" altLang="zh-CN" dirty="0"/>
              <a:t>true</a:t>
            </a:r>
            <a:r>
              <a:rPr lang="zh-CN" altLang="en-US" dirty="0"/>
              <a:t>、</a:t>
            </a:r>
            <a:r>
              <a:rPr lang="en-US" altLang="zh-CN" dirty="0"/>
              <a:t>false</a:t>
            </a:r>
            <a:r>
              <a:rPr lang="zh-CN" altLang="en-US" dirty="0"/>
              <a:t>宏</a:t>
            </a:r>
            <a:endParaRPr lang="en-US" altLang="zh-CN" dirty="0"/>
          </a:p>
          <a:p>
            <a:r>
              <a:rPr lang="en-US" altLang="zh-CN" dirty="0">
                <a:cs typeface="Tahoma" panose="020B0604030504040204" pitchFamily="34" charset="0"/>
              </a:rPr>
              <a:t>C24</a:t>
            </a:r>
            <a:r>
              <a:rPr lang="zh-CN" altLang="en-US" dirty="0">
                <a:latin typeface="Consolas" panose="020B0609020204030204" pitchFamily="49" charset="0"/>
                <a:cs typeface="Tahoma" panose="020B0604030504040204" pitchFamily="34" charset="0"/>
              </a:rPr>
              <a:t>把</a:t>
            </a:r>
            <a:r>
              <a:rPr lang="en-US" altLang="zh-CN" dirty="0">
                <a:latin typeface="Consolas" panose="020B0609020204030204" pitchFamily="49" charset="0"/>
                <a:cs typeface="Tahoma" panose="020B0604030504040204" pitchFamily="34" charset="0"/>
              </a:rPr>
              <a:t>bool</a:t>
            </a:r>
            <a:r>
              <a:rPr lang="zh-CN" altLang="en-US" dirty="0">
                <a:latin typeface="Consolas" panose="020B0609020204030204" pitchFamily="49" charset="0"/>
                <a:cs typeface="Tahoma" panose="020B0604030504040204" pitchFamily="34" charset="0"/>
              </a:rPr>
              <a:t>、</a:t>
            </a:r>
            <a:r>
              <a:rPr lang="en-US" altLang="zh-CN" dirty="0">
                <a:latin typeface="Consolas" panose="020B0609020204030204" pitchFamily="49" charset="0"/>
                <a:cs typeface="Tahoma" panose="020B0604030504040204" pitchFamily="34" charset="0"/>
              </a:rPr>
              <a:t>true</a:t>
            </a:r>
            <a:r>
              <a:rPr lang="zh-CN" altLang="en-US" dirty="0">
                <a:latin typeface="Consolas" panose="020B0609020204030204" pitchFamily="49" charset="0"/>
                <a:cs typeface="Tahoma" panose="020B0604030504040204" pitchFamily="34" charset="0"/>
              </a:rPr>
              <a:t>、</a:t>
            </a:r>
            <a:r>
              <a:rPr lang="en-US" altLang="zh-CN" dirty="0">
                <a:latin typeface="Consolas" panose="020B0609020204030204" pitchFamily="49" charset="0"/>
                <a:cs typeface="Tahoma" panose="020B0604030504040204" pitchFamily="34" charset="0"/>
              </a:rPr>
              <a:t>false</a:t>
            </a:r>
            <a:r>
              <a:rPr lang="zh-CN" altLang="en-US" dirty="0">
                <a:latin typeface="Consolas" panose="020B0609020204030204" pitchFamily="49" charset="0"/>
                <a:cs typeface="Tahoma" panose="020B0604030504040204" pitchFamily="34" charset="0"/>
              </a:rPr>
              <a:t>升级为保留字，同时淘汰</a:t>
            </a:r>
            <a:r>
              <a:rPr lang="en-US" altLang="zh-CN" dirty="0" err="1">
                <a:latin typeface="Consolas" panose="020B0609020204030204" pitchFamily="49" charset="0"/>
                <a:cs typeface="Tahoma" panose="020B0604030504040204" pitchFamily="34" charset="0"/>
              </a:rPr>
              <a:t>stdbool.h</a:t>
            </a:r>
            <a:endParaRPr lang="en-US" altLang="zh-CN" dirty="0">
              <a:latin typeface="Consolas" panose="020B0609020204030204" pitchFamily="49" charset="0"/>
              <a:cs typeface="Tahoma" panose="020B0604030504040204" pitchFamily="34" charset="0"/>
            </a:endParaRPr>
          </a:p>
          <a:p>
            <a:pPr marL="343800" lvl="1" indent="0">
              <a:buNone/>
            </a:pPr>
            <a:r>
              <a:rPr lang="zh-CN" altLang="en-US" dirty="0">
                <a:latin typeface="Consolas" panose="020B0609020204030204" pitchFamily="49" charset="0"/>
                <a:cs typeface="Tahoma" panose="020B0604030504040204" pitchFamily="34" charset="0"/>
              </a:rPr>
              <a:t>也淘汰了</a:t>
            </a:r>
            <a:r>
              <a:rPr lang="en-US" altLang="zh-CN" dirty="0" err="1">
                <a:latin typeface="Consolas" panose="020B0609020204030204" pitchFamily="49" charset="0"/>
                <a:cs typeface="Tahoma" panose="020B0604030504040204" pitchFamily="34" charset="0"/>
              </a:rPr>
              <a:t>stdalign.h</a:t>
            </a:r>
            <a:r>
              <a:rPr lang="zh-CN" altLang="en-US" dirty="0">
                <a:latin typeface="Consolas" panose="020B0609020204030204" pitchFamily="49" charset="0"/>
                <a:cs typeface="Tahoma" panose="020B0604030504040204" pitchFamily="34" charset="0"/>
              </a:rPr>
              <a:t>和</a:t>
            </a:r>
            <a:r>
              <a:rPr lang="en-US" altLang="zh-CN" dirty="0" err="1">
                <a:latin typeface="Consolas" panose="020B0609020204030204" pitchFamily="49" charset="0"/>
                <a:cs typeface="Tahoma" panose="020B0604030504040204" pitchFamily="34" charset="0"/>
              </a:rPr>
              <a:t>stdnoreturn.h</a:t>
            </a:r>
            <a:endParaRPr lang="zh-CN" altLang="en-US" dirty="0">
              <a:latin typeface="Consolas" panose="020B0609020204030204" pitchFamily="49" charset="0"/>
              <a:cs typeface="Tahoma" panose="020B0604030504040204" pitchFamily="34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7A9C34-9FDA-F8A3-1823-731290ABC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C7A31D-0EA0-305E-52AF-EC7DB8A6E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0798CF-5508-0435-E018-19EF729E0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5058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D540BF-7166-A609-57DC-5ED3EE3F7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如何适应</a:t>
            </a:r>
            <a:r>
              <a:rPr lang="en-US" altLang="zh-CN" dirty="0"/>
              <a:t>C24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4521FEB6-234C-B939-4A21-FEFDC7EE4D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043" y="1373181"/>
            <a:ext cx="10529888" cy="4643438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B163EA-73CB-21AD-9CED-25E3AE3C2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5E92C1-27DC-99EC-F8B8-CD79A11ED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102BC3-456B-F6BD-E4CA-C63EEB91B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6211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8CDC43-A00F-ABD5-F1A6-ABECF66AA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6B454-2212-0674-903A-8BA5ADB2D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现实世界的数据具有各种结构，程序中也应定义相应的类型，例如平面上的点的类型</a:t>
            </a:r>
            <a:endParaRPr lang="en-US" altLang="zh-CN" dirty="0"/>
          </a:p>
          <a:p>
            <a:pPr marL="343800" lvl="1" indent="0">
              <a:buNone/>
            </a:pPr>
            <a:r>
              <a:rPr lang="en-US" altLang="zh-CN" dirty="0">
                <a:latin typeface="Consolas" panose="020B0609020204030204" pitchFamily="49" charset="0"/>
              </a:rPr>
              <a:t>typedef struct {</a:t>
            </a:r>
          </a:p>
          <a:p>
            <a:pPr marL="343800" lvl="1" indent="0">
              <a:buNone/>
            </a:pPr>
            <a:r>
              <a:rPr lang="en-US" altLang="zh-CN" dirty="0">
                <a:latin typeface="Consolas" panose="020B0609020204030204" pitchFamily="49" charset="0"/>
              </a:rPr>
              <a:t>    float x;</a:t>
            </a:r>
          </a:p>
          <a:p>
            <a:pPr marL="343800" lvl="1" indent="0">
              <a:buNone/>
            </a:pPr>
            <a:r>
              <a:rPr lang="en-US" altLang="zh-CN" dirty="0">
                <a:latin typeface="Consolas" panose="020B0609020204030204" pitchFamily="49" charset="0"/>
              </a:rPr>
              <a:t>    float y;</a:t>
            </a:r>
          </a:p>
          <a:p>
            <a:pPr marL="343800" lvl="1" indent="0">
              <a:buNone/>
            </a:pPr>
            <a:r>
              <a:rPr lang="en-US" altLang="zh-CN" dirty="0">
                <a:latin typeface="Consolas" panose="020B0609020204030204" pitchFamily="49" charset="0"/>
              </a:rPr>
              <a:t>} </a:t>
            </a:r>
            <a:r>
              <a:rPr lang="en-US" altLang="zh-CN" dirty="0" err="1">
                <a:latin typeface="Consolas" panose="020B0609020204030204" pitchFamily="49" charset="0"/>
              </a:rPr>
              <a:t>PlanePoint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r>
              <a:rPr lang="zh-CN" altLang="en-US" dirty="0"/>
              <a:t>有些语言把结构称为记录，把成员称为字段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3D7971-2B63-9A2D-387F-077EBF444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DC8D9D-01CA-1F46-F67D-BCFE9EE20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6C929B-DB3A-0FB8-C443-20A46D74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237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AF9C22-DADA-F040-8517-175261169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定义和使用结构变量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F25BBE-7815-A80F-F74D-EA7A686B6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3800" lvl="1" indent="0">
              <a:buNone/>
            </a:pPr>
            <a:r>
              <a:rPr lang="en-US" altLang="zh-CN" dirty="0" err="1">
                <a:latin typeface="Consolas" panose="020B0609020204030204" pitchFamily="49" charset="0"/>
              </a:rPr>
              <a:t>PlanePoint</a:t>
            </a:r>
            <a:r>
              <a:rPr lang="en-US" altLang="zh-CN" dirty="0">
                <a:latin typeface="Consolas" panose="020B0609020204030204" pitchFamily="49" charset="0"/>
              </a:rPr>
              <a:t> a, b, c, *p;</a:t>
            </a:r>
          </a:p>
          <a:p>
            <a:pPr marL="343800" lvl="1" indent="0">
              <a:buNone/>
            </a:pPr>
            <a:r>
              <a:rPr lang="en-US" altLang="zh-CN" dirty="0" err="1">
                <a:latin typeface="Consolas" panose="020B0609020204030204" pitchFamily="49" charset="0"/>
              </a:rPr>
              <a:t>a.x</a:t>
            </a:r>
            <a:r>
              <a:rPr lang="en-US" altLang="zh-CN" dirty="0">
                <a:latin typeface="Consolas" panose="020B0609020204030204" pitchFamily="49" charset="0"/>
              </a:rPr>
              <a:t>=1;  // </a:t>
            </a:r>
            <a:r>
              <a:rPr lang="zh-CN" altLang="en-US" dirty="0">
                <a:latin typeface="Consolas" panose="020B0609020204030204" pitchFamily="49" charset="0"/>
              </a:rPr>
              <a:t>通过变量名访问成员，使用点运算符</a:t>
            </a:r>
            <a:r>
              <a:rPr lang="en-US" altLang="zh-CN" dirty="0">
                <a:latin typeface="Consolas" panose="020B0609020204030204" pitchFamily="49" charset="0"/>
              </a:rPr>
              <a:t>(.)</a:t>
            </a:r>
          </a:p>
          <a:p>
            <a:pPr marL="343800" lvl="1" indent="0">
              <a:buNone/>
            </a:pPr>
            <a:r>
              <a:rPr lang="en-US" altLang="zh-CN" dirty="0" err="1">
                <a:latin typeface="Consolas" panose="020B0609020204030204" pitchFamily="49" charset="0"/>
              </a:rPr>
              <a:t>a.y</a:t>
            </a:r>
            <a:r>
              <a:rPr lang="en-US" altLang="zh-CN" dirty="0">
                <a:latin typeface="Consolas" panose="020B0609020204030204" pitchFamily="49" charset="0"/>
              </a:rPr>
              <a:t>=1;</a:t>
            </a:r>
          </a:p>
          <a:p>
            <a:pPr marL="343800" lvl="1" indent="0">
              <a:buNone/>
            </a:pPr>
            <a:r>
              <a:rPr lang="en-US" altLang="zh-CN" dirty="0">
                <a:latin typeface="Consolas" panose="020B0609020204030204" pitchFamily="49" charset="0"/>
              </a:rPr>
              <a:t>p=&amp;b;   // </a:t>
            </a:r>
            <a:r>
              <a:rPr lang="zh-CN" altLang="en-US" dirty="0">
                <a:latin typeface="Consolas" panose="020B0609020204030204" pitchFamily="49" charset="0"/>
              </a:rPr>
              <a:t>让</a:t>
            </a:r>
            <a:r>
              <a:rPr lang="en-US" altLang="zh-CN" dirty="0">
                <a:latin typeface="Consolas" panose="020B0609020204030204" pitchFamily="49" charset="0"/>
              </a:rPr>
              <a:t>p</a:t>
            </a:r>
            <a:r>
              <a:rPr lang="zh-CN" altLang="en-US" dirty="0">
                <a:latin typeface="Consolas" panose="020B0609020204030204" pitchFamily="49" charset="0"/>
              </a:rPr>
              <a:t>指向</a:t>
            </a:r>
            <a:r>
              <a:rPr lang="en-US" altLang="zh-CN" dirty="0">
                <a:latin typeface="Consolas" panose="020B0609020204030204" pitchFamily="49" charset="0"/>
              </a:rPr>
              <a:t>b</a:t>
            </a:r>
            <a:r>
              <a:rPr lang="zh-CN" altLang="en-US" dirty="0">
                <a:latin typeface="Consolas" panose="020B0609020204030204" pitchFamily="49" charset="0"/>
              </a:rPr>
              <a:t>，其中</a:t>
            </a:r>
            <a:r>
              <a:rPr lang="en-US" altLang="zh-CN" dirty="0">
                <a:latin typeface="Consolas" panose="020B0609020204030204" pitchFamily="49" charset="0"/>
              </a:rPr>
              <a:t>b</a:t>
            </a:r>
            <a:r>
              <a:rPr lang="zh-CN" altLang="en-US" dirty="0">
                <a:latin typeface="Consolas" panose="020B0609020204030204" pitchFamily="49" charset="0"/>
              </a:rPr>
              <a:t>不是地址常量</a:t>
            </a:r>
            <a:endParaRPr lang="en-US" altLang="zh-CN" dirty="0">
              <a:latin typeface="Consolas" panose="020B0609020204030204" pitchFamily="49" charset="0"/>
            </a:endParaRPr>
          </a:p>
          <a:p>
            <a:pPr marL="343800" lvl="1" indent="0">
              <a:buNone/>
            </a:pPr>
            <a:r>
              <a:rPr lang="en-US" altLang="zh-CN" dirty="0">
                <a:latin typeface="Consolas" panose="020B0609020204030204" pitchFamily="49" charset="0"/>
              </a:rPr>
              <a:t>p-&gt;x=2; // </a:t>
            </a:r>
            <a:r>
              <a:rPr lang="zh-CN" altLang="en-US" dirty="0">
                <a:latin typeface="Consolas" panose="020B0609020204030204" pitchFamily="49" charset="0"/>
              </a:rPr>
              <a:t>通过指针访问成员，使用</a:t>
            </a:r>
            <a:r>
              <a:rPr lang="en-US" altLang="zh-CN" dirty="0">
                <a:latin typeface="Consolas" panose="020B0609020204030204" pitchFamily="49" charset="0"/>
              </a:rPr>
              <a:t>-&gt;</a:t>
            </a:r>
            <a:r>
              <a:rPr lang="zh-CN" altLang="en-US" dirty="0">
                <a:latin typeface="Consolas" panose="020B0609020204030204" pitchFamily="49" charset="0"/>
              </a:rPr>
              <a:t>运算符</a:t>
            </a:r>
            <a:endParaRPr lang="en-US" altLang="zh-CN" dirty="0">
              <a:latin typeface="Consolas" panose="020B0609020204030204" pitchFamily="49" charset="0"/>
            </a:endParaRPr>
          </a:p>
          <a:p>
            <a:pPr marL="343800" lvl="1" indent="0">
              <a:buNone/>
            </a:pPr>
            <a:r>
              <a:rPr lang="en-US" altLang="zh-CN" dirty="0">
                <a:latin typeface="Consolas" panose="020B0609020204030204" pitchFamily="49" charset="0"/>
              </a:rPr>
              <a:t>p-&gt;y=3;</a:t>
            </a:r>
          </a:p>
          <a:p>
            <a:pPr marL="343800" lvl="1" indent="0">
              <a:buNone/>
            </a:pPr>
            <a:r>
              <a:rPr lang="en-US" altLang="zh-CN" dirty="0">
                <a:latin typeface="Consolas" panose="020B0609020204030204" pitchFamily="49" charset="0"/>
              </a:rPr>
              <a:t>c=a;    // </a:t>
            </a:r>
            <a:r>
              <a:rPr lang="zh-CN" altLang="en-US" dirty="0">
                <a:latin typeface="Consolas" panose="020B0609020204030204" pitchFamily="49" charset="0"/>
              </a:rPr>
              <a:t>结构变量可以整体赋值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0176CB-84E9-91B7-6252-E9C86CEB2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94287E-B192-12DA-25F0-27D968C56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C8727B-9FAC-2798-DA2C-59A9B917E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2555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DC7A8-B71E-2EFB-6702-64120C014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求平面上两点间的距离</a:t>
            </a: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68181ADB-559A-84B6-65FC-F01C3E0405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070" y="1420798"/>
            <a:ext cx="11774805" cy="3853815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596C82-F5F0-375A-2CD6-C138B6E8B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124B59-463B-C3A2-7EF0-D8ACFFDDE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0D50F4-0EF8-97E9-E3F8-C1A3ECDED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4256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FA1612-CFA3-FB1C-9D47-519CEF460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定义新的数据类型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F0F96E-D8B1-E39D-BE13-535327E8B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不只是简单地</a:t>
            </a:r>
            <a:r>
              <a:rPr lang="en-US" altLang="zh-CN" dirty="0"/>
              <a:t>typedef</a:t>
            </a:r>
            <a:r>
              <a:rPr lang="zh-CN" altLang="en-US" dirty="0"/>
              <a:t>一个类型</a:t>
            </a:r>
            <a:endParaRPr lang="en-US" altLang="zh-CN" dirty="0"/>
          </a:p>
          <a:p>
            <a:r>
              <a:rPr lang="zh-CN" altLang="en-US" dirty="0"/>
              <a:t>还要给出这种类型的各种操作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7F5E82-5707-CE8D-D327-913D66D32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3F41DE-F4CD-1F82-B9D7-1954DEBB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1CF782-968A-D00C-CC82-796325ED8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5397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DBFD0A-8168-29A1-03B4-E5BCBBCE8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栈：后进先出的数据结构</a:t>
            </a: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FE165ED8-7AFD-B663-A571-AC9BC96285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56148"/>
          <a:stretch>
            <a:fillRect/>
          </a:stretch>
        </p:blipFill>
        <p:spPr>
          <a:xfrm>
            <a:off x="491150" y="1462748"/>
            <a:ext cx="5319715" cy="4462272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779DCB-5A69-97A5-EC00-EE5150C77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74DADF-C6DD-9E14-5668-36C92D0FA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18114C-A2B4-E7B8-F836-B16B40F4D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074AEE4-0A65-4217-6A39-81AF7EAE9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4920" y="2319323"/>
            <a:ext cx="6023610" cy="3018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360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E6FBAE-9F52-700B-6D6D-757A351A9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简单栈的实现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4D6B44-249D-E655-2C90-B44FA1337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F75806-7E7A-D1DE-5862-2D6033E0E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F1F9C8-9F4D-46C3-6A79-CEDD8D7E2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11</a:t>
            </a:fld>
            <a:endParaRPr lang="zh-CN" altLang="en-US" dirty="0"/>
          </a:p>
        </p:txBody>
      </p:sp>
      <p:pic>
        <p:nvPicPr>
          <p:cNvPr id="12" name="内容占位符 11">
            <a:extLst>
              <a:ext uri="{FF2B5EF4-FFF2-40B4-BE49-F238E27FC236}">
                <a16:creationId xmlns:a16="http://schemas.microsoft.com/office/drawing/2014/main" id="{78869888-7201-E326-2AB4-3222D6E23D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56"/>
          <a:stretch>
            <a:fillRect/>
          </a:stretch>
        </p:blipFill>
        <p:spPr>
          <a:xfrm>
            <a:off x="685799" y="1396998"/>
            <a:ext cx="11119485" cy="450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428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0C8DB-E130-0561-7A45-56C5B8CFB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D5373F-7D67-C193-2918-6509894E9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简单栈的实现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EB3B94-0F55-45E6-00C2-AE58E44BB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F4EEE6-0E51-D45E-3BA9-F990C1738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D2B82E-95DC-2127-A501-922C0CB24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12</a:t>
            </a:fld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6850B04-46C8-7509-348A-8FDC0FA00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" y="1485895"/>
            <a:ext cx="9503093" cy="347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921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868D1-97AF-40B5-F092-54DF35647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A1D669-FAB3-99E5-CD12-F915F714C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简单栈的实现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3864AA-B410-80AD-6F01-129825395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3194E2-BE37-DA04-AD27-0651D02DA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B38CD-5E2C-162D-46C8-DA993ED1C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903B00D-620C-89EE-B8AC-4462E6830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414458"/>
            <a:ext cx="8633460" cy="4431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490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B50AE-7EF3-BF80-62AE-7B1A3DF2F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5D7D5F-D22A-FE75-2506-4F750C6B2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简单栈的实现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96BA97-1C9A-49C2-9F08-D7BE4919D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527C52-32C2-CE4E-168E-DFB1C3DB8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A66D8A-AC82-6D65-8E0E-C7CCBDE00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14</a:t>
            </a:fld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E0CB1DB-4E69-A739-9C78-FAB66ECC9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3" y="1419223"/>
            <a:ext cx="8444865" cy="442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343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494487-06F3-22AF-B6CB-D65637B00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栈在进制转换中的应用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05C677-5883-85CE-0AF3-A8D19F283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将十进制整数</a:t>
            </a:r>
            <a:r>
              <a:rPr lang="en-US" altLang="zh-CN" dirty="0"/>
              <a:t>x</a:t>
            </a:r>
            <a:r>
              <a:rPr lang="zh-CN" altLang="en-US" dirty="0"/>
              <a:t>转成</a:t>
            </a:r>
            <a:r>
              <a:rPr lang="en-US" altLang="zh-CN" dirty="0"/>
              <a:t>N</a:t>
            </a:r>
            <a:r>
              <a:rPr lang="zh-CN" altLang="en-US" dirty="0"/>
              <a:t>进制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将余数依次进栈，再依次出栈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837561-DC56-44EB-E959-3415B157C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99AEF-9974-B520-00C6-A00FAE979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C21C26-0586-6D9A-E131-0CB9320A6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15</a:t>
            </a:fld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B48B468-D424-6D51-6C23-A5955713E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69" y="2100243"/>
            <a:ext cx="7472363" cy="310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774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F02F36-EF01-AC9B-CC8E-8CBC51ADF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P81SimpleStack.c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346208-A363-B290-6487-5B9A52B93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</a:t>
            </a:r>
            <a:r>
              <a:rPr lang="en-US" altLang="zh-CN" dirty="0"/>
              <a:t>decimal</a:t>
            </a:r>
            <a:r>
              <a:rPr lang="zh-CN" altLang="en-US" dirty="0"/>
              <a:t>转成</a:t>
            </a:r>
            <a:r>
              <a:rPr lang="en-US" altLang="zh-CN" dirty="0"/>
              <a:t>base</a:t>
            </a:r>
            <a:r>
              <a:rPr lang="zh-CN" altLang="en-US" dirty="0"/>
              <a:t>进制并存入</a:t>
            </a:r>
            <a:r>
              <a:rPr lang="en-US" altLang="zh-CN" dirty="0"/>
              <a:t>digit[](n)</a:t>
            </a:r>
            <a:r>
              <a:rPr lang="zh-CN" altLang="en-US" dirty="0"/>
              <a:t>中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D1DB1C-FD49-8322-4071-F712F11D8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F492F9-1609-6F58-E82A-F94065622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3F790B-F7E5-F15F-534A-69F5F547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16</a:t>
            </a:fld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C89A8A8-5B4B-ED55-265E-2D38FF57C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79" y="2216338"/>
            <a:ext cx="1061847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501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ED1AF-7827-A98F-95C4-86DB410BA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69BD82-E36D-20E9-827F-27F22AE00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P81SimpleStack.c</a:t>
            </a:r>
            <a:endParaRPr lang="zh-CN" altLang="en-US" dirty="0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5BBC8BB3-0366-4E2D-6FCD-19375DAD73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0992" y="1458905"/>
            <a:ext cx="9955530" cy="3829050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8B4455-EEAB-75B3-3C0B-E6D682DA0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6EC475-50B1-FEB5-C41D-7C77120E4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B7F628-C676-95BA-F292-D383F2526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7461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29F9AD-D9CE-0FAB-2633-A9F81B88A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数据的逻辑结构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CD7FCA-25FD-850A-09C8-842205CF8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C5CA18-A228-CFB7-ADC1-A1B1B1C57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E7DCCB-D53D-CA8E-CB3B-6BEED48AC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18</a:t>
            </a:fld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8258166-4296-8C3B-ECF6-603204430E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201" y="1476360"/>
            <a:ext cx="2787396" cy="173621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E94F09D-9E05-68D6-83FE-6A1BC69B0C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885" y="1957497"/>
            <a:ext cx="3600450" cy="126873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A9BEB95-E1EF-ED7F-4056-46C6FD3D86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177" y="3711084"/>
            <a:ext cx="3600450" cy="225171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88220DD-E4F1-837D-D270-3D2430B453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260" y="3579698"/>
            <a:ext cx="3600450" cy="225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5404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5DCF94-C295-A03A-66A5-46CC3B2A3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数据的物理结构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7AB8D7-4B0A-9974-CCCC-25988C276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顺序存储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链式存储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F784B7-02D8-F156-28B0-E30B10979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BACFED-7127-6364-4992-6C23A56EC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E35D55-13BA-22A2-54B6-8919993C4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19</a:t>
            </a:fld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8117F85-7ABA-9160-C803-757B6D679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838" y="2400524"/>
            <a:ext cx="5900738" cy="84296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01ED99E-7597-0DC4-BAD3-53489F088A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891" y="4905422"/>
            <a:ext cx="9272588" cy="84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7863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A67B42-211A-97E3-28C0-B4D0D780E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什么是数据类型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D3DC1F-98D9-651B-7828-F9045B3AA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int </a:t>
            </a:r>
            <a:r>
              <a:rPr lang="en-US" altLang="zh-CN" dirty="0" err="1"/>
              <a:t>i</a:t>
            </a:r>
            <a:r>
              <a:rPr lang="en-US" altLang="zh-CN" dirty="0"/>
              <a:t>=7;</a:t>
            </a:r>
          </a:p>
          <a:p>
            <a:pPr lvl="1"/>
            <a:r>
              <a:rPr lang="zh-CN" altLang="en-US" dirty="0"/>
              <a:t>存储格式：</a:t>
            </a:r>
            <a:r>
              <a:rPr lang="en-US" altLang="zh-CN" dirty="0"/>
              <a:t>32</a:t>
            </a:r>
            <a:r>
              <a:rPr lang="zh-CN" altLang="en-US" dirty="0"/>
              <a:t>位补码</a:t>
            </a:r>
            <a:endParaRPr lang="en-US" altLang="zh-CN" dirty="0"/>
          </a:p>
          <a:p>
            <a:pPr lvl="1"/>
            <a:r>
              <a:rPr lang="zh-CN" altLang="en-US" dirty="0"/>
              <a:t>整型操作：加、减、乘、除、求余等</a:t>
            </a:r>
            <a:endParaRPr lang="en-US" altLang="zh-CN" dirty="0"/>
          </a:p>
          <a:p>
            <a:pPr marL="343800" lvl="1" indent="0">
              <a:buNone/>
            </a:pPr>
            <a:r>
              <a:rPr lang="zh-CN" altLang="en-US" dirty="0"/>
              <a:t>   如果</a:t>
            </a:r>
            <a:r>
              <a:rPr lang="en-US" altLang="zh-CN" dirty="0"/>
              <a:t>7</a:t>
            </a:r>
            <a:r>
              <a:rPr lang="zh-CN" altLang="en-US" dirty="0"/>
              <a:t>不能做加减运算，那么</a:t>
            </a:r>
            <a:r>
              <a:rPr lang="en-US" altLang="zh-CN" dirty="0"/>
              <a:t>7</a:t>
            </a:r>
            <a:r>
              <a:rPr lang="zh-CN" altLang="en-US" dirty="0"/>
              <a:t>就不是整数</a:t>
            </a:r>
            <a:endParaRPr lang="en-US" altLang="zh-CN" dirty="0"/>
          </a:p>
          <a:p>
            <a:r>
              <a:rPr lang="zh-CN" altLang="en-US" dirty="0"/>
              <a:t>数据类型是一类数据所具有的共同性质</a:t>
            </a:r>
            <a:endParaRPr lang="en-US" altLang="zh-CN" dirty="0"/>
          </a:p>
          <a:p>
            <a:pPr lvl="1"/>
            <a:r>
              <a:rPr lang="zh-CN" altLang="en-US" dirty="0"/>
              <a:t>相同的存储格式</a:t>
            </a:r>
            <a:endParaRPr lang="en-US" altLang="zh-CN" dirty="0"/>
          </a:p>
          <a:p>
            <a:pPr lvl="1"/>
            <a:r>
              <a:rPr lang="zh-CN" altLang="en-US" dirty="0"/>
              <a:t>对这类数据的一组操作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893B4D-4E3F-EADF-07BA-32456D31A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6203A2-9F39-00B6-05EA-7D2DAC9AD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F38474-0476-E00D-9793-C5C7CD329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20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32136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73FCF-E9EF-EE21-06E2-5C9D028B3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375149-5BBE-2F99-4A17-BC037D8CF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类和对象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41FBF2-9EDB-92D0-6D4B-E28ED5E05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现实世界是由对象组成的，程序是对现实世界的抽象，因此程序中也有相应的对象</a:t>
            </a:r>
            <a:endParaRPr lang="en-US" altLang="zh-CN" dirty="0"/>
          </a:p>
          <a:p>
            <a:r>
              <a:rPr lang="zh-CN" altLang="en-US" dirty="0"/>
              <a:t>类是一类对象所具有的共同性质，包括存储结构和一组操作</a:t>
            </a:r>
            <a:endParaRPr lang="en-US" altLang="zh-CN" dirty="0"/>
          </a:p>
          <a:p>
            <a:r>
              <a:rPr lang="zh-CN" altLang="en-US" dirty="0"/>
              <a:t>类相当于</a:t>
            </a:r>
            <a:r>
              <a:rPr lang="en-US" altLang="zh-CN" dirty="0"/>
              <a:t>C</a:t>
            </a:r>
            <a:r>
              <a:rPr lang="zh-CN" altLang="en-US" dirty="0"/>
              <a:t>语言中的数据类型</a:t>
            </a:r>
            <a:endParaRPr lang="en-US" altLang="zh-CN" dirty="0"/>
          </a:p>
          <a:p>
            <a:r>
              <a:rPr lang="zh-CN" altLang="en-US" dirty="0"/>
              <a:t>类是抽象的对象，用类定义的变量是具体的对象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F77406-3225-219E-9599-6971D937F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A6191B-1D07-6FAF-663F-63A8862A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1B7DBC-62F0-91FA-C879-ED0B9176C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21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58438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16D0BF-2F88-380A-C6B3-3804DA2F6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对象的属性和行为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845A6C-C69E-AC8F-9141-FEFCEE1B1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0873"/>
            <a:ext cx="10629900" cy="4854190"/>
          </a:xfrm>
        </p:spPr>
        <p:txBody>
          <a:bodyPr/>
          <a:lstStyle/>
          <a:p>
            <a:r>
              <a:rPr lang="zh-CN" altLang="en-US" dirty="0"/>
              <a:t>面向对象的语言可以把变量（数据）和函数（操作）打包成一个完整的对象</a:t>
            </a:r>
            <a:endParaRPr lang="en-US" altLang="zh-CN" dirty="0"/>
          </a:p>
          <a:p>
            <a:r>
              <a:rPr lang="zh-CN" altLang="en-US" dirty="0"/>
              <a:t>对象的变量称为</a:t>
            </a:r>
            <a:r>
              <a:rPr lang="zh-CN" altLang="en-US" b="1" dirty="0"/>
              <a:t>成员变量</a:t>
            </a:r>
            <a:r>
              <a:rPr lang="zh-CN" altLang="en-US" dirty="0"/>
              <a:t>，用来描述对象的属性</a:t>
            </a:r>
            <a:endParaRPr lang="en-US" altLang="zh-CN" dirty="0"/>
          </a:p>
          <a:p>
            <a:r>
              <a:rPr lang="zh-CN" altLang="en-US" dirty="0"/>
              <a:t>对象的函数称为</a:t>
            </a:r>
            <a:r>
              <a:rPr lang="zh-CN" altLang="en-US" b="1" dirty="0"/>
              <a:t>成员函数</a:t>
            </a:r>
            <a:r>
              <a:rPr lang="zh-CN" altLang="en-US" dirty="0"/>
              <a:t>，用来描述对象的行为，也就是操作对象的方法</a:t>
            </a:r>
            <a:endParaRPr lang="en-US" altLang="zh-CN" dirty="0"/>
          </a:p>
          <a:p>
            <a:r>
              <a:rPr lang="zh-CN" altLang="en-US" dirty="0"/>
              <a:t>成员变量又称</a:t>
            </a:r>
            <a:r>
              <a:rPr lang="zh-CN" altLang="en-US" b="1" dirty="0"/>
              <a:t>属性</a:t>
            </a:r>
            <a:r>
              <a:rPr lang="zh-CN" altLang="en-US" dirty="0"/>
              <a:t>，成员函数又称</a:t>
            </a:r>
            <a:r>
              <a:rPr lang="zh-CN" altLang="en-US" b="1" dirty="0"/>
              <a:t>方法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7E5C6B-2F7E-933A-084E-D65E18C77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D2608F-1E7A-2542-2631-47D4D52BE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8BB0DD-3181-8DB5-8893-A1B587716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87865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C25778-D631-16A4-4E06-EE9F621B8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面向过程和面向对象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8E43A6-F8BF-BC4A-7D18-79E0C363C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面向过程：程序本身是一种过程，因此程序设计应该着眼于过程和过程中的事件</a:t>
            </a:r>
            <a:endParaRPr lang="en-US" altLang="zh-CN" dirty="0"/>
          </a:p>
          <a:p>
            <a:r>
              <a:rPr lang="zh-CN" altLang="en-US" dirty="0"/>
              <a:t>面向对象：世界是由对象组成的，因此程序设计应该着眼于对象和对象间的联系</a:t>
            </a:r>
            <a:endParaRPr lang="en-US" altLang="zh-CN" dirty="0"/>
          </a:p>
          <a:p>
            <a:r>
              <a:rPr lang="zh-CN" altLang="en-US" dirty="0"/>
              <a:t>这两种方法并不矛盾，应同时使用这两种方法</a:t>
            </a:r>
            <a:endParaRPr lang="en-US" altLang="zh-CN" dirty="0"/>
          </a:p>
          <a:p>
            <a:pPr lvl="1"/>
            <a:r>
              <a:rPr lang="zh-CN" altLang="en-US" dirty="0"/>
              <a:t>面向过程的程序设计不可避免地要使用对象</a:t>
            </a:r>
            <a:endParaRPr lang="en-US" altLang="zh-CN" dirty="0"/>
          </a:p>
          <a:p>
            <a:pPr lvl="1"/>
            <a:r>
              <a:rPr lang="zh-CN" altLang="en-US" dirty="0"/>
              <a:t>面向对象的程序设计不可避免地要设计过程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958BF3-11AA-CF01-AEA7-E97BA5FCE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5F0FB2-7F24-2BD0-7850-00A7F285D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93E251-ACC2-C538-ED13-0960F2FC8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23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71276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CDA7F-77F1-32AF-7A20-0AEADB21D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4A61FB-A240-5029-F478-B31A1B49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怎样面向过程和面向对象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ECD8AF-D67D-1B90-BCE3-77947A436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面向过程的程序设计就是编写一个一个的过程，一个过程就是一个函数</a:t>
            </a:r>
            <a:endParaRPr lang="en-US" altLang="zh-CN" dirty="0"/>
          </a:p>
          <a:p>
            <a:r>
              <a:rPr lang="zh-CN" altLang="en-US" dirty="0"/>
              <a:t>面向对象的程序设计就是编写一个一个的对象，一个对象就是一个自定义的数据类型加上支持这种类型的一组操作，例如前面的</a:t>
            </a:r>
            <a:r>
              <a:rPr lang="en-US" altLang="zh-CN" dirty="0" err="1"/>
              <a:t>SimpleStack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8EC97E-B560-048A-6183-352AEF81E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9EA85E-6858-0437-6A39-2D0DEE626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BDBFF0-52E8-B2F3-D29E-DA87CCB89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24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6137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A35BA-CD3B-3AB8-7FA6-019BBB58B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C</a:t>
            </a:r>
            <a:r>
              <a:rPr lang="zh-CN" altLang="en-US" dirty="0"/>
              <a:t>语言做面向对象的程序设计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42BFC3-9D98-36FF-AE34-49179A77F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是面向过程的语言</a:t>
            </a:r>
            <a:endParaRPr lang="en-US" altLang="zh-CN" dirty="0"/>
          </a:p>
          <a:p>
            <a:r>
              <a:rPr lang="zh-CN" altLang="en-US" dirty="0"/>
              <a:t>面向对象是一种思路，和编程语言无关</a:t>
            </a:r>
            <a:endParaRPr lang="en-US" altLang="zh-CN" dirty="0"/>
          </a:p>
          <a:p>
            <a:r>
              <a:rPr lang="en-US" altLang="zh-CN" dirty="0"/>
              <a:t>C</a:t>
            </a:r>
            <a:r>
              <a:rPr lang="zh-CN" altLang="en-US" dirty="0"/>
              <a:t>语言只是不提供对象的封装功能而已，但是这并不妨碍我们把一个结构和对它的一组操作合在一起，看成一个完整的对象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F4169A-507C-78B5-00E0-8E99942F5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6091FF-97FE-9D7D-5610-10802F4E0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C3DA9B-9300-8396-31AC-61B83DBBA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55525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061A11-FECA-8E7F-B970-E880F81F3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操作函数的命名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D6A553-F047-A0FD-AC2F-01DEDE757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语言没有局部函数和成员函数，有重名问题</a:t>
            </a:r>
            <a:endParaRPr lang="en-US" altLang="zh-CN" dirty="0"/>
          </a:p>
          <a:p>
            <a:r>
              <a:rPr lang="en-US" altLang="zh-CN" dirty="0"/>
              <a:t>Static</a:t>
            </a:r>
            <a:r>
              <a:rPr lang="zh-CN" altLang="en-US" dirty="0"/>
              <a:t>函数有一定的局部性，但作用有限</a:t>
            </a:r>
            <a:endParaRPr lang="en-US" altLang="zh-CN" dirty="0"/>
          </a:p>
          <a:p>
            <a:r>
              <a:rPr lang="zh-CN" altLang="en-US" dirty="0"/>
              <a:t>解决办法：用类型名作前缀</a:t>
            </a:r>
            <a:endParaRPr lang="en-US" altLang="zh-CN" dirty="0"/>
          </a:p>
          <a:p>
            <a:pPr lvl="1"/>
            <a:r>
              <a:rPr lang="zh-CN" altLang="en-US" dirty="0"/>
              <a:t>例如</a:t>
            </a:r>
            <a:r>
              <a:rPr lang="en-US" altLang="zh-CN" dirty="0"/>
              <a:t>Stack</a:t>
            </a:r>
            <a:r>
              <a:rPr lang="zh-CN" altLang="en-US" dirty="0"/>
              <a:t>的进栈操作，命名为 </a:t>
            </a:r>
            <a:r>
              <a:rPr lang="en-US" altLang="zh-CN" dirty="0" err="1"/>
              <a:t>StackPush</a:t>
            </a:r>
            <a:endParaRPr lang="en-US" altLang="zh-CN" dirty="0"/>
          </a:p>
          <a:p>
            <a:pPr lvl="1"/>
            <a:r>
              <a:rPr lang="zh-CN" altLang="en-US" dirty="0"/>
              <a:t>在不至于混淆时，简写为 </a:t>
            </a:r>
            <a:r>
              <a:rPr lang="en-US" altLang="zh-CN" dirty="0"/>
              <a:t>-Push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FCF92F-D53D-58AE-C5FB-168DEFB52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4EFBFB-5A0C-30D9-4014-158C940FF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3EAC59-AC43-5412-FE6D-E26642C1D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26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12296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1568A5-D42D-F636-7B5D-D6EB96D64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静态对象和动态对象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C81AE0-7EE5-0E30-E5E3-4C070B5BF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静态对象</a:t>
            </a:r>
            <a:endParaRPr lang="en-US" altLang="zh-CN" dirty="0"/>
          </a:p>
          <a:p>
            <a:pPr lvl="1"/>
            <a:r>
              <a:rPr lang="zh-CN" altLang="en-US" dirty="0"/>
              <a:t>编译时创建</a:t>
            </a:r>
            <a:endParaRPr lang="en-US" altLang="zh-CN" dirty="0"/>
          </a:p>
          <a:p>
            <a:pPr lvl="1"/>
            <a:r>
              <a:rPr lang="zh-CN" altLang="en-US" dirty="0"/>
              <a:t>在数据区或栈区</a:t>
            </a:r>
            <a:endParaRPr lang="en-US" altLang="zh-CN" dirty="0"/>
          </a:p>
          <a:p>
            <a:r>
              <a:rPr lang="zh-CN" altLang="en-US" dirty="0"/>
              <a:t>动态对象</a:t>
            </a:r>
            <a:endParaRPr lang="en-US" altLang="zh-CN" dirty="0"/>
          </a:p>
          <a:p>
            <a:pPr lvl="1"/>
            <a:r>
              <a:rPr lang="zh-CN" altLang="en-US" dirty="0"/>
              <a:t>运行时创建</a:t>
            </a:r>
            <a:endParaRPr lang="en-US" altLang="zh-CN" dirty="0"/>
          </a:p>
          <a:p>
            <a:pPr lvl="1"/>
            <a:r>
              <a:rPr lang="zh-CN" altLang="en-US" dirty="0"/>
              <a:t>在堆区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7D2CA4-ACDB-FCE9-8779-6911CC1F8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D195FE-FEDA-C6FE-E435-A0CCAAB33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D5CBC3-CA6F-1C48-6078-96F36B607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14571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E47427-D0F3-A777-374D-9864172EC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创建和销毁静态对象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0C691F-EB05-7248-67C0-7B8702403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F7CAE7-3422-B2F5-5295-24C54FDFF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D5E0CD-3137-BC74-2A67-D1726035E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28</a:t>
            </a:fld>
            <a:endParaRPr lang="zh-CN" altLang="en-US" dirty="0"/>
          </a:p>
        </p:txBody>
      </p:sp>
      <p:sp>
        <p:nvSpPr>
          <p:cNvPr id="13" name="内容占位符 12">
            <a:extLst>
              <a:ext uri="{FF2B5EF4-FFF2-40B4-BE49-F238E27FC236}">
                <a16:creationId xmlns:a16="http://schemas.microsoft.com/office/drawing/2014/main" id="{7DD91DA5-185F-E657-1980-EE19A6942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4" y="3742015"/>
            <a:ext cx="11668126" cy="2425423"/>
          </a:xfrm>
        </p:spPr>
        <p:txBody>
          <a:bodyPr>
            <a:normAutofit lnSpcReduction="10000"/>
          </a:bodyPr>
          <a:lstStyle/>
          <a:p>
            <a:pPr lvl="1"/>
            <a:r>
              <a:rPr lang="en-US" altLang="zh-CN" dirty="0"/>
              <a:t>Object </a:t>
            </a:r>
            <a:r>
              <a:rPr lang="zh-CN" altLang="en-US" dirty="0"/>
              <a:t>是数据类型，即抽象的对象</a:t>
            </a:r>
            <a:endParaRPr lang="en-US" altLang="zh-CN" dirty="0"/>
          </a:p>
          <a:p>
            <a:pPr lvl="1"/>
            <a:r>
              <a:rPr lang="en-US" altLang="zh-CN" dirty="0" err="1"/>
              <a:t>staticObject</a:t>
            </a:r>
            <a:r>
              <a:rPr lang="zh-CN" altLang="en-US" dirty="0"/>
              <a:t> 是变量，即具体的对象</a:t>
            </a:r>
            <a:endParaRPr lang="en-US" altLang="zh-CN" dirty="0"/>
          </a:p>
          <a:p>
            <a:pPr lvl="1"/>
            <a:r>
              <a:rPr lang="en-US" altLang="zh-CN" dirty="0"/>
              <a:t>-Init </a:t>
            </a:r>
            <a:r>
              <a:rPr lang="zh-CN" altLang="en-US" dirty="0"/>
              <a:t>和 </a:t>
            </a:r>
            <a:r>
              <a:rPr lang="en-US" altLang="zh-CN" dirty="0"/>
              <a:t>-Free </a:t>
            </a:r>
            <a:r>
              <a:rPr lang="zh-CN" altLang="en-US" dirty="0"/>
              <a:t>不是现成的函数，需要自己编写</a:t>
            </a:r>
            <a:endParaRPr lang="en-US" altLang="zh-CN" dirty="0"/>
          </a:p>
          <a:p>
            <a:pPr lvl="1"/>
            <a:r>
              <a:rPr lang="zh-CN" altLang="en-US" dirty="0"/>
              <a:t>如果 </a:t>
            </a:r>
            <a:r>
              <a:rPr lang="en-US" altLang="zh-CN" dirty="0"/>
              <a:t>-Init </a:t>
            </a:r>
            <a:r>
              <a:rPr lang="zh-CN" altLang="en-US" dirty="0"/>
              <a:t>中有分配内存的操作，那么应有释放内存的 </a:t>
            </a:r>
            <a:r>
              <a:rPr lang="en-US" altLang="zh-CN" dirty="0"/>
              <a:t>-Free </a:t>
            </a:r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D70E9F9A-E3E4-312D-A14B-B71D2E8A82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87"/>
          <a:stretch>
            <a:fillRect/>
          </a:stretch>
        </p:blipFill>
        <p:spPr>
          <a:xfrm>
            <a:off x="214301" y="1359312"/>
            <a:ext cx="11977700" cy="2212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9119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9F83D-13C7-A446-3F19-C8B55FBBE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C8A2D3-E6C3-03A7-A3EE-DEBAA0F85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创建和销毁动态对象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34DA88-DA16-CCD5-6BAF-C733241B9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50341F-79B3-6540-C87F-B6AE48C90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D44C4D-1388-9663-4A4B-2EAA84124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29</a:t>
            </a:fld>
            <a:endParaRPr lang="zh-CN" altLang="en-US" dirty="0"/>
          </a:p>
        </p:txBody>
      </p:sp>
      <p:sp>
        <p:nvSpPr>
          <p:cNvPr id="13" name="内容占位符 12">
            <a:extLst>
              <a:ext uri="{FF2B5EF4-FFF2-40B4-BE49-F238E27FC236}">
                <a16:creationId xmlns:a16="http://schemas.microsoft.com/office/drawing/2014/main" id="{CC6201B4-86C1-7FFE-DCF9-A66587D84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5603177"/>
            <a:ext cx="11668126" cy="645223"/>
          </a:xfrm>
        </p:spPr>
        <p:txBody>
          <a:bodyPr>
            <a:normAutofit/>
          </a:bodyPr>
          <a:lstStyle/>
          <a:p>
            <a:pPr lvl="1"/>
            <a:r>
              <a:rPr lang="en-US" altLang="zh-CN" dirty="0"/>
              <a:t>-Construct </a:t>
            </a:r>
            <a:r>
              <a:rPr lang="zh-CN" altLang="en-US" dirty="0"/>
              <a:t>是构造函数，</a:t>
            </a:r>
            <a:r>
              <a:rPr lang="en-US" altLang="zh-CN" dirty="0"/>
              <a:t>-Destruct</a:t>
            </a:r>
            <a:r>
              <a:rPr lang="zh-CN" altLang="en-US" dirty="0"/>
              <a:t> 是析构函数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CAEF32A-E5F7-14D9-9B3A-50207A3E71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985"/>
          <a:stretch>
            <a:fillRect/>
          </a:stretch>
        </p:blipFill>
        <p:spPr>
          <a:xfrm>
            <a:off x="135177" y="1357237"/>
            <a:ext cx="12056823" cy="414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1235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A70666-E75C-7993-E069-EF234C28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程序员常犯的错误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FB4643-F02C-98AC-0ED5-4FE9387E8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忘记初始化对象</a:t>
            </a:r>
            <a:endParaRPr lang="en-US" altLang="zh-CN" dirty="0"/>
          </a:p>
          <a:p>
            <a:pPr marL="343800" lvl="1" indent="0">
              <a:buNone/>
            </a:pPr>
            <a:r>
              <a:rPr lang="en-US" altLang="zh-CN" dirty="0"/>
              <a:t>C++</a:t>
            </a:r>
            <a:r>
              <a:rPr lang="zh-CN" altLang="en-US" dirty="0"/>
              <a:t>在构造函数中做初始化，创建对象时，自动调用</a:t>
            </a:r>
            <a:endParaRPr lang="en-US" altLang="zh-CN" dirty="0"/>
          </a:p>
          <a:p>
            <a:r>
              <a:rPr lang="zh-CN" altLang="en-US" dirty="0"/>
              <a:t>忘记销毁对象或未能正确销毁对象</a:t>
            </a:r>
            <a:endParaRPr lang="en-US" altLang="zh-CN" dirty="0"/>
          </a:p>
          <a:p>
            <a:pPr marL="343800" lvl="1" indent="0">
              <a:buNone/>
            </a:pPr>
            <a:r>
              <a:rPr lang="en-US" altLang="zh-CN" dirty="0"/>
              <a:t>C++</a:t>
            </a:r>
            <a:r>
              <a:rPr lang="zh-CN" altLang="en-US" dirty="0"/>
              <a:t>用析构函数销毁对象，但程序员也容易忘记</a:t>
            </a:r>
            <a:endParaRPr lang="en-US" altLang="zh-CN" dirty="0"/>
          </a:p>
          <a:p>
            <a:pPr marL="343800" lvl="1" indent="0">
              <a:buNone/>
            </a:pPr>
            <a:r>
              <a:rPr lang="en-US" altLang="zh-CN" dirty="0"/>
              <a:t>Java</a:t>
            </a:r>
            <a:r>
              <a:rPr lang="zh-CN" altLang="en-US" dirty="0"/>
              <a:t>提供内存回收机制</a:t>
            </a:r>
            <a:endParaRPr lang="en-US" altLang="zh-CN" dirty="0"/>
          </a:p>
          <a:p>
            <a:r>
              <a:rPr lang="zh-CN" altLang="en-US" dirty="0"/>
              <a:t>使用了悬空指针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C37B8F-A799-B9C5-FF79-142CBB7AE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75F2BD-9142-8ABD-A087-42820F0D5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B181EA-8CFB-3ADC-13CB-B4534311B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30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43370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8F1B2E-4E41-5DA8-330A-3FAF72B8A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用动态数组实现栈</a:t>
            </a: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EFF2CA89-751D-123C-BF38-B17D8416AB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0457"/>
          <a:stretch>
            <a:fillRect/>
          </a:stretch>
        </p:blipFill>
        <p:spPr>
          <a:xfrm>
            <a:off x="500211" y="1395556"/>
            <a:ext cx="4583066" cy="4526280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269BF6-DEC4-57B4-DF0E-32E3958C4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E1D255-A227-D517-9DB9-9B1010870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2530FF-8325-6EFF-879D-675A93382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31</a:t>
            </a:fld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5285AD3-4E99-447B-A5C2-F36CE199D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3277" y="2002856"/>
            <a:ext cx="6217920" cy="369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4808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8EE96B-F989-73BB-5727-388356613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初始化栈</a:t>
            </a:r>
            <a:r>
              <a:rPr lang="en-US" altLang="zh-CN" dirty="0"/>
              <a:t>-Init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F9736E98-5423-E878-0F62-61CE7B74D1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501"/>
          <a:stretch>
            <a:fillRect/>
          </a:stretch>
        </p:blipFill>
        <p:spPr>
          <a:xfrm>
            <a:off x="66667" y="1284696"/>
            <a:ext cx="12125333" cy="5092065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6F0C14-DF84-8C82-0AE0-E6FEEA273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53D5E2-AA16-1514-52E1-E6FF341CA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079954-4C74-216F-443E-845F64627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32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03257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C28159-5563-9430-3BB7-55F5D17E2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释放栈</a:t>
            </a:r>
            <a:r>
              <a:rPr lang="en-US" altLang="zh-CN" dirty="0"/>
              <a:t>-Free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22DD8841-533F-8A9D-0BCC-0D0A44DA3A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738" y="1516051"/>
            <a:ext cx="7355205" cy="3633597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7A7BC6-2E9D-BCCB-2118-996A385DD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3EFE79-2857-DF29-CF0C-06B034BAC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5F174D-0FA7-1924-AF60-F5E1E0314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33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4105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C64C53-5BAA-6011-7DA8-17F05E14C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清空栈、判断栈空、求栈的长度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F859A3-D552-D1B5-9D0D-675659A35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F474B2-C080-F0B2-77E6-6DB039F10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8E46CF-38FD-E774-C770-AA66D9869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34</a:t>
            </a:fld>
            <a:endParaRPr lang="zh-CN" altLang="en-US" dirty="0"/>
          </a:p>
        </p:txBody>
      </p:sp>
      <p:sp>
        <p:nvSpPr>
          <p:cNvPr id="20" name="内容占位符 19">
            <a:extLst>
              <a:ext uri="{FF2B5EF4-FFF2-40B4-BE49-F238E27FC236}">
                <a16:creationId xmlns:a16="http://schemas.microsoft.com/office/drawing/2014/main" id="{630213BF-99CB-9C48-66D0-90E53FDCA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123" y="1407998"/>
            <a:ext cx="10515600" cy="4522721"/>
          </a:xfrm>
        </p:spPr>
        <p:txBody>
          <a:bodyPr>
            <a:normAutofit/>
          </a:bodyPr>
          <a:lstStyle/>
          <a:p>
            <a:r>
              <a:rPr lang="zh-CN" altLang="en-US" dirty="0"/>
              <a:t>清空栈</a:t>
            </a:r>
            <a:endParaRPr lang="en-US" altLang="zh-CN" dirty="0"/>
          </a:p>
          <a:p>
            <a:pPr marL="343800" lvl="1" indent="0">
              <a:buNone/>
            </a:pPr>
            <a:endParaRPr lang="en-US" altLang="zh-CN" dirty="0"/>
          </a:p>
          <a:p>
            <a:r>
              <a:rPr lang="zh-CN" altLang="en-US" dirty="0"/>
              <a:t>判断栈是否为空</a:t>
            </a:r>
            <a:endParaRPr lang="en-US" altLang="zh-CN" dirty="0"/>
          </a:p>
          <a:p>
            <a:pPr marL="343800" lvl="1" indent="0">
              <a:buNone/>
            </a:pPr>
            <a:endParaRPr lang="en-US" altLang="zh-CN" dirty="0"/>
          </a:p>
          <a:p>
            <a:r>
              <a:rPr lang="zh-CN" altLang="en-US" dirty="0"/>
              <a:t>求栈的长度，即栈中元素的个数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A15CE7C2-7117-ECAD-9AB2-16758EB60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591" y="2261911"/>
            <a:ext cx="7124700" cy="479298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75576908-3F3C-E30D-DD66-AE124301BF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076" y="5274553"/>
            <a:ext cx="7021068" cy="479298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AE273A1B-0C9E-1638-D342-750DA4D429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921" y="3686480"/>
            <a:ext cx="7526274" cy="595884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8B4FD79C-68A8-412B-F0DC-4541E2C9200C}"/>
              </a:ext>
            </a:extLst>
          </p:cNvPr>
          <p:cNvSpPr txBox="1"/>
          <p:nvPr/>
        </p:nvSpPr>
        <p:spPr>
          <a:xfrm>
            <a:off x="8405218" y="2467992"/>
            <a:ext cx="29546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因函数简单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可以用宏实现</a:t>
            </a:r>
          </a:p>
        </p:txBody>
      </p:sp>
    </p:spTree>
    <p:extLst>
      <p:ext uri="{BB962C8B-B14F-4D97-AF65-F5344CB8AC3E}">
        <p14:creationId xmlns:p14="http://schemas.microsoft.com/office/powerpoint/2010/main" val="20863557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35D099-0A30-DDF0-35B8-7E8B322E9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取栈顶元素</a:t>
            </a:r>
            <a:r>
              <a:rPr lang="en-US" altLang="zh-CN" dirty="0"/>
              <a:t>-Peek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CC83A8-400D-5876-6904-05D7B8C98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CB798D-F354-A225-6511-993987E26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986D1B-0CD7-DA7F-105C-7F82B96C8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35</a:t>
            </a:fld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DD4C877-BA2E-9941-DF64-67E3A6B3C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1" y="1366833"/>
            <a:ext cx="12132945" cy="358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056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838FB1-2FCE-1843-DD7D-678A2C098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进栈</a:t>
            </a:r>
            <a:r>
              <a:rPr lang="en-US" altLang="zh-CN" dirty="0"/>
              <a:t>-Push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54C307F1-DF9E-3600-603A-6D1637291F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1" r="15650"/>
          <a:stretch>
            <a:fillRect/>
          </a:stretch>
        </p:blipFill>
        <p:spPr>
          <a:xfrm>
            <a:off x="38093" y="1289665"/>
            <a:ext cx="12153907" cy="5117211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6F5DA7-5D82-3990-C529-50D4F8630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D02116-AA09-42D3-65F5-F04A724C3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098DEF-5CEC-8715-F5ED-297EDFBFF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36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92878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14272-AE57-71FF-2660-D522473F0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A4F053-8BD9-F4C0-2E82-A71C0B17A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进栈</a:t>
            </a:r>
            <a:r>
              <a:rPr lang="en-US" altLang="zh-CN" dirty="0"/>
              <a:t>-Push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399E50-8AC8-D3DB-F3C3-4B5B934E2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AF2F4E-26B7-3F74-DE22-2F7C4B258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0991D3-01FD-95C1-B1AB-0013CDF2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37</a:t>
            </a:fld>
            <a:endParaRPr lang="zh-CN" altLang="en-US" dirty="0"/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FBF08C85-B72F-147A-4111-FC13772D0A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9592"/>
          <a:stretch>
            <a:fillRect/>
          </a:stretch>
        </p:blipFill>
        <p:spPr>
          <a:xfrm>
            <a:off x="142860" y="1284389"/>
            <a:ext cx="12049140" cy="5092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2153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0C6E08-FCB4-D486-BB7A-ACC06B561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出栈</a:t>
            </a:r>
            <a:r>
              <a:rPr lang="en-US" altLang="zh-CN" dirty="0"/>
              <a:t>-Pop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5FF232D4-803F-15CC-0E1E-42185053BC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959" y="1283417"/>
            <a:ext cx="12019788" cy="5129784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820484-3AE8-59EF-BAAD-DC192A7A5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F8DB59-D26F-2FEB-1A5F-69B5E2C55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9CD273-6AEC-2A5F-A825-1EC8896E9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38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85791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4AF90-A923-9DFB-2E04-01D7A6EAF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54BA4-DA19-C981-A481-3B33D5781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遍历栈</a:t>
            </a:r>
            <a:r>
              <a:rPr lang="en-US" altLang="zh-CN" dirty="0"/>
              <a:t>-Traverse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3F2808-0BFA-C836-BA3E-2A7F60580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DFA696-A8FC-2299-E118-068AE2848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47AA4E-E31A-E050-0943-F1125EA68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39</a:t>
            </a:fld>
            <a:endParaRPr lang="zh-CN" altLang="en-US" dirty="0"/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5F59D8D0-E98C-DE4A-B587-6297175B68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" y="1318423"/>
            <a:ext cx="12094464" cy="542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5067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4BB5FF-15A6-11FE-3C0E-6DEF27E7B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栈的实现及测试 </a:t>
            </a:r>
            <a:r>
              <a:rPr lang="en-US" altLang="zh-CN" dirty="0"/>
              <a:t>P82Stack.c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C248A3CA-4E76-6A70-37FA-B4294849EB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834" y="1392229"/>
            <a:ext cx="11492103" cy="4429125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633292-B243-C9BF-A152-40BBFB530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1F29F2-C330-DB73-3D12-D1440351C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57B1A7-C36F-FCE6-A38F-850648EF1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40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64306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8A9A2-5686-1F0C-328B-D909B9369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986981-D1BB-307E-37FB-19AECA717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P82Stack.c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233C17-BC0D-9057-05F1-E9B264879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355DB0-BED8-4F31-F8E4-7AD9E291C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F55B07-081C-96C5-FF8A-CA06E7881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41</a:t>
            </a:fld>
            <a:endParaRPr lang="zh-CN" altLang="en-US" dirty="0"/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FAE7E1C9-8F71-CFEB-D4A9-420D959DDC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913" y="1387469"/>
            <a:ext cx="9968484" cy="4464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6308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996E7-835D-054D-3945-1341C890A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栈的改进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66ADEC-F620-D63A-D4D0-5DC1B8842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60873"/>
            <a:ext cx="10839451" cy="4854190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问题：</a:t>
            </a:r>
            <a:r>
              <a:rPr lang="en-US" altLang="zh-CN" dirty="0" err="1"/>
              <a:t>StackElement</a:t>
            </a:r>
            <a:r>
              <a:rPr lang="zh-CN" altLang="en-US" dirty="0"/>
              <a:t>类型固定，不能通用</a:t>
            </a:r>
            <a:endParaRPr lang="en-US" altLang="zh-CN" dirty="0"/>
          </a:p>
          <a:p>
            <a:r>
              <a:rPr lang="zh-CN" altLang="en-US" dirty="0"/>
              <a:t>解决问题的思路：把类型作参数</a:t>
            </a:r>
            <a:endParaRPr lang="en-US" altLang="zh-CN" dirty="0"/>
          </a:p>
          <a:p>
            <a:pPr lvl="1"/>
            <a:r>
              <a:rPr lang="zh-CN" altLang="en-US" dirty="0"/>
              <a:t>但类型是抽象的东西，不能作为运行时参数</a:t>
            </a:r>
            <a:endParaRPr lang="en-US" altLang="zh-CN" dirty="0"/>
          </a:p>
          <a:p>
            <a:pPr lvl="1"/>
            <a:r>
              <a:rPr lang="en-US" altLang="zh-CN" dirty="0"/>
              <a:t>C++</a:t>
            </a:r>
            <a:r>
              <a:rPr lang="zh-CN" altLang="en-US" dirty="0"/>
              <a:t>的模板把类型作为编译时参数，缺点是代码膨胀</a:t>
            </a:r>
            <a:endParaRPr lang="en-US" altLang="zh-CN" dirty="0"/>
          </a:p>
          <a:p>
            <a:r>
              <a:rPr lang="zh-CN" altLang="en-US" dirty="0"/>
              <a:t>我们的解决办法</a:t>
            </a:r>
            <a:endParaRPr lang="en-US" altLang="zh-CN" dirty="0"/>
          </a:p>
          <a:p>
            <a:pPr lvl="1"/>
            <a:r>
              <a:rPr lang="zh-CN" altLang="en-US" dirty="0"/>
              <a:t>使用通用指针，即无类型指针</a:t>
            </a:r>
            <a:endParaRPr lang="en-US" altLang="zh-CN" dirty="0"/>
          </a:p>
          <a:p>
            <a:pPr lvl="1"/>
            <a:r>
              <a:rPr lang="zh-CN" altLang="en-US" dirty="0"/>
              <a:t>将类型的长度作为参数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5A5C87-EB1B-3D07-A170-09693DBE8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7065CB-3BC6-7700-4137-422699A1F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BB8DCB-35AA-7957-3794-CE3036924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42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59782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D399D5-1C31-B239-AFB3-EEA7FE20C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通用指针 </a:t>
            </a:r>
            <a:r>
              <a:rPr lang="en-US" altLang="zh-CN" dirty="0"/>
              <a:t>void*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C3622F-09D5-FF27-9AE3-3D3737D90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202BDC-E7B1-125B-2A20-C58CF7E3D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DC3B97-03D0-9271-E843-06AA11854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43</a:t>
            </a:fld>
            <a:endParaRPr lang="zh-CN" altLang="en-US" dirty="0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EFDE93D7-B8E3-C839-4C7C-93AF6E83C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38112"/>
            <a:ext cx="10515600" cy="8436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建议通过强制转换的办法，保守地处理</a:t>
            </a:r>
            <a:r>
              <a:rPr lang="en-US" altLang="zh-CN" dirty="0"/>
              <a:t>void</a:t>
            </a:r>
            <a:r>
              <a:rPr lang="zh-CN" altLang="en-US" dirty="0"/>
              <a:t>指针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D329730-AE60-85C2-13CD-640672148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07310"/>
            <a:ext cx="9052560" cy="416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2904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829990-A294-EBBD-3E79-1A697638B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泛型栈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35F076-6D7E-21AE-C719-1B7C80C8E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0325" y="2407432"/>
            <a:ext cx="4943475" cy="1357313"/>
          </a:xfrm>
        </p:spPr>
        <p:txBody>
          <a:bodyPr/>
          <a:lstStyle/>
          <a:p>
            <a:pPr lvl="1"/>
            <a:r>
              <a:rPr lang="zh-CN" altLang="en-US" dirty="0"/>
              <a:t>使用</a:t>
            </a:r>
            <a:r>
              <a:rPr lang="en-US" altLang="zh-CN" dirty="0"/>
              <a:t>void</a:t>
            </a:r>
            <a:r>
              <a:rPr lang="zh-CN" altLang="en-US" dirty="0"/>
              <a:t>指针</a:t>
            </a:r>
            <a:endParaRPr lang="en-US" altLang="zh-CN" dirty="0"/>
          </a:p>
          <a:p>
            <a:pPr lvl="1"/>
            <a:r>
              <a:rPr lang="zh-CN" altLang="en-US" dirty="0"/>
              <a:t>增加</a:t>
            </a:r>
            <a:r>
              <a:rPr lang="en-US" altLang="zh-CN" dirty="0" err="1"/>
              <a:t>elementSize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2E14CE-68B8-491C-A2C4-CA66117F1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BC38A6-C396-EC7B-A354-41A435F1E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EE6155-CC88-DA46-14CE-3D48F12D6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44</a:t>
            </a:fld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858E6A9-4655-A456-357B-3BF7FE7E0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1393020"/>
            <a:ext cx="5143500" cy="344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4734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9BD9D9-D1DC-269E-E153-B3A859F49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构造函数</a:t>
            </a:r>
            <a:r>
              <a:rPr lang="en-US" altLang="zh-CN" dirty="0"/>
              <a:t>-Construct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8522FB71-1F82-B303-B620-117522873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7512"/>
          <a:stretch>
            <a:fillRect/>
          </a:stretch>
        </p:blipFill>
        <p:spPr>
          <a:xfrm>
            <a:off x="133191" y="1401751"/>
            <a:ext cx="12058809" cy="4136517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3B063E-89B9-8CA4-8C86-6AC502BAC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429018-7D83-920A-4907-D868DA55B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F5D508-4F35-DA80-267D-9537603E9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45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37535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02C18-EFCB-4818-2CC1-A4BC0FCCD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9C2AAF-391A-4FC2-D93E-7FED73FE3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构造函数</a:t>
            </a:r>
            <a:r>
              <a:rPr lang="en-US" altLang="zh-CN" dirty="0"/>
              <a:t>-Construct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11A041-9185-CB49-192B-8D1A51ABC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1F5303-D1D2-43B8-ADF4-005931728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2845B0-DBEB-A44C-BD7C-2ADD7A6EE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46</a:t>
            </a:fld>
            <a:endParaRPr lang="zh-CN" altLang="en-US" dirty="0"/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14B1C594-1F08-D5CC-173A-60CA32FDCA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0988" y="1539875"/>
            <a:ext cx="9266301" cy="452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9230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416A0-61A4-E7F9-8603-4970344D8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96F27B-A1F5-88CA-C2B3-2B2C2494A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析构函数</a:t>
            </a:r>
            <a:r>
              <a:rPr lang="en-US" altLang="zh-CN" dirty="0"/>
              <a:t>-Destruct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7261A5-183F-FE93-568D-A6CCD88EC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0F3FB9-66C8-7992-5C97-F96439D65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1B0E82-72BF-704E-376A-28E6D5719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47</a:t>
            </a:fld>
            <a:endParaRPr lang="zh-CN" altLang="en-US" dirty="0"/>
          </a:p>
        </p:txBody>
      </p:sp>
      <p:sp>
        <p:nvSpPr>
          <p:cNvPr id="12" name="内容占位符 11">
            <a:extLst>
              <a:ext uri="{FF2B5EF4-FFF2-40B4-BE49-F238E27FC236}">
                <a16:creationId xmlns:a16="http://schemas.microsoft.com/office/drawing/2014/main" id="{004C1C0C-9724-5758-B60E-2F526ADA4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275" y="4933950"/>
            <a:ext cx="10515600" cy="1309687"/>
          </a:xfrm>
        </p:spPr>
        <p:txBody>
          <a:bodyPr/>
          <a:lstStyle/>
          <a:p>
            <a:pPr lvl="1"/>
            <a:r>
              <a:rPr lang="zh-CN" altLang="en-US" dirty="0"/>
              <a:t>出栈函数见教材</a:t>
            </a:r>
            <a:endParaRPr lang="en-US" altLang="zh-CN" dirty="0"/>
          </a:p>
          <a:p>
            <a:pPr lvl="1"/>
            <a:r>
              <a:rPr lang="zh-CN" altLang="en-US" dirty="0"/>
              <a:t>其他函数请自己实现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5489C1A-CBCE-D11D-E6A8-5133E801C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" y="1364464"/>
            <a:ext cx="8247888" cy="362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2986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5427B7-3346-A2D3-1AC7-224A71936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链表</a:t>
            </a: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5E173523-823F-36AF-30C1-155327146E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28" y="1977605"/>
            <a:ext cx="11567160" cy="2987345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3F3856-C7F8-EA41-3979-D4388445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8C7B2B-3053-1CA8-5DA7-98B9184BA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22CA3E-49B1-0E57-EAA1-745118012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48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78047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8C8E99-81AB-B9EE-1BBB-A924E3215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泛型链表的一种定义</a:t>
            </a: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C9994B3D-55FE-A512-1145-70AF615AA1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3911" y="1360891"/>
            <a:ext cx="7059930" cy="2007870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DD9A3B-14FC-B071-AD5D-BCD20F316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9C6BD5-4E4D-2439-E96E-133EF31B3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E47EBD-24D9-6BAE-24C9-442DF4074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49</a:t>
            </a:fld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2362A5F-F97C-59F4-9F6C-DD45D762F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25" y="3624886"/>
            <a:ext cx="5738622" cy="261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4463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870088-03E6-2360-18D0-45A305199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创建节点</a:t>
            </a:r>
            <a:r>
              <a:rPr lang="en-US" altLang="zh-CN" dirty="0"/>
              <a:t>-</a:t>
            </a:r>
            <a:r>
              <a:rPr lang="en-US" altLang="zh-CN" dirty="0" err="1"/>
              <a:t>MakeNode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47107CE2-EDF8-859F-D639-9E188A1085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612"/>
          <a:stretch>
            <a:fillRect/>
          </a:stretch>
        </p:blipFill>
        <p:spPr>
          <a:xfrm>
            <a:off x="102933" y="1377934"/>
            <a:ext cx="12089067" cy="3570732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CB4CFB-9328-A1DA-BF5E-986EC7534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CFED2E-2560-2430-04E8-20BDBA005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35D65B-6219-7DD1-8095-FD831D14C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50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28783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9B66D-5ED8-B66A-05B7-1989F3AD7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22438C-25BD-F01F-EB37-E55DBBBC6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创建节点</a:t>
            </a:r>
            <a:r>
              <a:rPr lang="en-US" altLang="zh-CN" dirty="0"/>
              <a:t>-</a:t>
            </a:r>
            <a:r>
              <a:rPr lang="en-US" altLang="zh-CN" dirty="0" err="1"/>
              <a:t>MakeNode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AD7E03-CB30-DB0D-073F-0D6C133D8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27A5B6-A7D2-2765-1321-0C6D2E8EB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8B36F9-12EB-52E0-C37A-D58F26B13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51</a:t>
            </a:fld>
            <a:endParaRPr lang="zh-CN" altLang="en-US" dirty="0"/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B27249E7-CBEE-5B7A-20EB-08C4BA4D95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725" y="1439851"/>
            <a:ext cx="11856339" cy="451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2298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463BDB-5DDF-C011-ED46-D323BF83E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释放节点</a:t>
            </a:r>
            <a:r>
              <a:rPr lang="en-US" altLang="zh-CN" dirty="0"/>
              <a:t>-</a:t>
            </a:r>
            <a:r>
              <a:rPr lang="en-US" altLang="zh-CN" dirty="0" err="1"/>
              <a:t>FreeNode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2BDC6624-73B1-08BD-CC7C-A0C4948ACD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0992" y="1487476"/>
            <a:ext cx="9932670" cy="4111371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5307ED-F2E6-11FD-C09E-76D661B88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79254D-F569-BDA1-2548-6520E7F20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3A437F-07CC-47FA-2E48-F43503FF6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52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52862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2FE230-E49F-83B7-5A83-9E0815B0F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构造链表</a:t>
            </a:r>
            <a:r>
              <a:rPr lang="en-US" altLang="zh-CN" dirty="0"/>
              <a:t>-Construct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8BF523AB-D359-B730-D02B-D893B6A0DC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508" y="1325559"/>
            <a:ext cx="10423017" cy="5066919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EC8D28-695E-C6BD-F0D5-6CF403715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C319ED-F056-388E-1144-F9B5BD2AE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4F4642-ECCA-8169-2B00-A6B0EDED6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53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40973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C3F98B-AE57-2222-2C26-9598A5377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析构链表</a:t>
            </a:r>
            <a:r>
              <a:rPr lang="en-US" altLang="zh-CN" dirty="0"/>
              <a:t>-Destruct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D30DCD37-8D1E-A34E-028D-C5B1FC4754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0984" y="1381109"/>
            <a:ext cx="7594092" cy="2564892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2B37BD-0237-8992-FDC4-AF045FC29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38680F-B523-52A9-DA9C-76ED96FAD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F52D5B-8556-4B08-DA4C-ADAF900D5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54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055836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F0DC5E-A454-3C24-5ECD-185010E01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清空链表</a:t>
            </a:r>
            <a:r>
              <a:rPr lang="en-US" altLang="zh-CN" dirty="0"/>
              <a:t>-Clear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17C40193-FA95-5EBB-8E61-049732873C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784" y="1282700"/>
            <a:ext cx="9907524" cy="2514600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678D40-07A4-A11D-0EC9-79E84C862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162BCA-FDF6-E857-2B22-767547C23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6B0C03-FC71-1515-905D-AB362FF01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55</a:t>
            </a:fld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15EDA28-E709-9B79-7532-10E288E28A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7798"/>
          <a:stretch>
            <a:fillRect/>
          </a:stretch>
        </p:blipFill>
        <p:spPr>
          <a:xfrm>
            <a:off x="111915" y="3824282"/>
            <a:ext cx="8612505" cy="251459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980B44A-9642-F60C-EE1E-BCD3EB9B5B48}"/>
              </a:ext>
            </a:extLst>
          </p:cNvPr>
          <p:cNvSpPr txBox="1"/>
          <p:nvPr/>
        </p:nvSpPr>
        <p:spPr>
          <a:xfrm>
            <a:off x="9409380" y="5609649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下略</a:t>
            </a:r>
          </a:p>
        </p:txBody>
      </p:sp>
    </p:spTree>
    <p:extLst>
      <p:ext uri="{BB962C8B-B14F-4D97-AF65-F5344CB8AC3E}">
        <p14:creationId xmlns:p14="http://schemas.microsoft.com/office/powerpoint/2010/main" val="24818949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211D51-E8CA-0645-58D3-F3FF83F47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在头部插入</a:t>
            </a:r>
            <a:r>
              <a:rPr lang="en-US" altLang="zh-CN" dirty="0"/>
              <a:t>-</a:t>
            </a:r>
            <a:r>
              <a:rPr lang="en-US" altLang="zh-CN" dirty="0" err="1"/>
              <a:t>InsertAtFront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C9CC21A7-6012-95F3-595B-1223994AB0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484" y="1266809"/>
            <a:ext cx="11718036" cy="5582412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674680-A501-5C49-D6EA-01AF50092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9CF8CD-64F4-C898-E075-3D7C30BFA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271A6A-6F43-13BA-17C1-4C1F30476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56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99064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F53906-A2A5-FA08-5DB4-70DA98AB4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在尾部追加</a:t>
            </a:r>
            <a:r>
              <a:rPr lang="en-US" altLang="zh-CN" dirty="0"/>
              <a:t>-Append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294E3D41-381C-BF68-5C67-5F71A5450C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592" y="1354126"/>
            <a:ext cx="10385298" cy="4538853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B6104B-3F52-1321-C3D0-882A3813D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FD9F46-FAB1-A7CB-6A57-1AA4875B8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824797-EDAD-335B-1EAA-7BE039A8B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57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34038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23BFF-7F0C-20EB-7D72-19A4762EB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1B0F0D-B6C5-8ED8-0C2E-81217F7C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在尾部追加</a:t>
            </a:r>
            <a:r>
              <a:rPr lang="en-US" altLang="zh-CN" dirty="0"/>
              <a:t>-Append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23431F-07EC-1B48-2D78-ECECED5B7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BAC4E9-9FAC-FBAA-A1D6-431F1301D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1E7F9A-62AC-67F1-9240-E749CC187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58</a:t>
            </a:fld>
            <a:endParaRPr lang="zh-CN" altLang="en-US" dirty="0"/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C83AF029-89D4-9629-22D6-8056C43E99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217" y="1339842"/>
            <a:ext cx="9832086" cy="5054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74930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AD76C1-7E31-9372-7756-3802F9AEE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在某节点后插入</a:t>
            </a:r>
            <a:r>
              <a:rPr lang="en-US" altLang="zh-CN" dirty="0"/>
              <a:t>-</a:t>
            </a:r>
            <a:r>
              <a:rPr lang="en-US" altLang="zh-CN" dirty="0" err="1"/>
              <a:t>InsertAfter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FC8D9131-6210-8F64-287B-B1FD5408C8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533"/>
          <a:stretch>
            <a:fillRect/>
          </a:stretch>
        </p:blipFill>
        <p:spPr>
          <a:xfrm>
            <a:off x="171432" y="1200949"/>
            <a:ext cx="12020568" cy="5233416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95E838-6187-A8FE-2B56-870BC8185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6F9989-234F-ACC6-D3A8-C8471DC41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9A2948-7687-6350-A6FE-E70127A66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59</a:t>
            </a:fld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32D0C96-3BB8-BCF8-CFC7-2ECE6AD4D68C}"/>
              </a:ext>
            </a:extLst>
          </p:cNvPr>
          <p:cNvSpPr txBox="1"/>
          <p:nvPr/>
        </p:nvSpPr>
        <p:spPr>
          <a:xfrm>
            <a:off x="9488129" y="5771535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下略</a:t>
            </a:r>
          </a:p>
        </p:txBody>
      </p:sp>
    </p:spTree>
    <p:extLst>
      <p:ext uri="{BB962C8B-B14F-4D97-AF65-F5344CB8AC3E}">
        <p14:creationId xmlns:p14="http://schemas.microsoft.com/office/powerpoint/2010/main" val="14086555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2E3468-B569-04DC-661C-8D8A0732C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删除第一个节点</a:t>
            </a:r>
            <a:r>
              <a:rPr lang="en-US" altLang="zh-CN" dirty="0"/>
              <a:t>-</a:t>
            </a:r>
            <a:r>
              <a:rPr lang="en-US" altLang="zh-CN" dirty="0" err="1"/>
              <a:t>DeleteFirstNode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A46116BA-CAB9-65DA-30A5-82DF9A7D30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082" y="1195117"/>
            <a:ext cx="10492740" cy="5233416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60F341-E95E-C2BB-719A-53160C382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F58F18-0403-61EA-07C9-EF5CB4252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6DF60D-245C-8C81-FF09-68573460C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60</a:t>
            </a:fld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1273F0B-A12F-FDAE-8273-962963831D3A}"/>
              </a:ext>
            </a:extLst>
          </p:cNvPr>
          <p:cNvSpPr txBox="1"/>
          <p:nvPr/>
        </p:nvSpPr>
        <p:spPr>
          <a:xfrm>
            <a:off x="9488129" y="5771535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下略</a:t>
            </a:r>
          </a:p>
        </p:txBody>
      </p:sp>
    </p:spTree>
    <p:extLst>
      <p:ext uri="{BB962C8B-B14F-4D97-AF65-F5344CB8AC3E}">
        <p14:creationId xmlns:p14="http://schemas.microsoft.com/office/powerpoint/2010/main" val="413156220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7DE5A8-69E5-3678-8E6A-9E7F5BF04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删除最后一个节点</a:t>
            </a:r>
            <a:r>
              <a:rPr lang="en-US" altLang="zh-CN" dirty="0"/>
              <a:t>-</a:t>
            </a:r>
            <a:r>
              <a:rPr lang="en-US" altLang="zh-CN" dirty="0" err="1"/>
              <a:t>DeleteLastNode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F11EFFF1-7E4A-EC2B-7A88-D5412A5B05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157" y="1363658"/>
            <a:ext cx="10311384" cy="4728210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0DC96B-D6E4-EFB2-6A12-0F104575C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7BE887-F3DA-9AA3-B142-EC49E14CF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E5F1C9-29EE-6F06-DEF5-D48E4392F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61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46840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F871D-97B2-E8D9-C1AE-65B7F6D35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2E5D69-BDFA-3039-DAD3-B712D099E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删除最后一个节点</a:t>
            </a:r>
            <a:r>
              <a:rPr lang="en-US" altLang="zh-CN" dirty="0"/>
              <a:t>-</a:t>
            </a:r>
            <a:r>
              <a:rPr lang="en-US" altLang="zh-CN" dirty="0" err="1"/>
              <a:t>DeleteLastNode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F4AE66-48FD-73ED-D6F1-1EA0A9E00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01D811-F57C-B697-537F-25E261650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935C7F-468E-DF54-2A41-9212727E3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62</a:t>
            </a:fld>
            <a:endParaRPr lang="zh-CN" altLang="en-US" dirty="0"/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A011BB98-9079-7A78-4138-01B94484BB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032" y="1425566"/>
            <a:ext cx="8329422" cy="468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77665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550F58-22C7-9CFD-8777-AEC241B77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查找</a:t>
            </a:r>
            <a:r>
              <a:rPr lang="en-US" altLang="zh-CN" dirty="0"/>
              <a:t>-Search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6C9B16BF-FBF4-205A-F603-E3C784C13C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965"/>
          <a:stretch>
            <a:fillRect/>
          </a:stretch>
        </p:blipFill>
        <p:spPr>
          <a:xfrm>
            <a:off x="90473" y="1152525"/>
            <a:ext cx="12101527" cy="5699760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1E2BF9-9A81-8E3F-6B16-163823803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21A433-74FF-71DD-E4E5-59C5F1F44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93C83C-31D8-2045-4697-394D5D5D8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63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986814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FD4395-302B-B903-8ADF-8CBD2950C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遍历</a:t>
            </a:r>
            <a:r>
              <a:rPr lang="en-US" altLang="zh-CN" dirty="0"/>
              <a:t>-Traverse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0F7D4A66-6EC3-8A6F-9966-B0313BDAD7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9519"/>
          <a:stretch>
            <a:fillRect/>
          </a:stretch>
        </p:blipFill>
        <p:spPr>
          <a:xfrm>
            <a:off x="142857" y="1149341"/>
            <a:ext cx="12049143" cy="5673852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BB3D66-93A4-153B-5186-3B7A9FC26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6CCC1F-D07E-2899-2D27-C490C2B7E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35B08D-E89C-8A46-0DA0-399746819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64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40559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D5DDAF-967A-780D-A59C-74AAF6799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A76E44-7161-4437-5A46-4A2403BB8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424" y="1360873"/>
            <a:ext cx="11277601" cy="4854190"/>
          </a:xfrm>
        </p:spPr>
        <p:txBody>
          <a:bodyPr>
            <a:normAutofit lnSpcReduction="10000"/>
          </a:bodyPr>
          <a:lstStyle/>
          <a:p>
            <a:pPr lvl="1"/>
            <a:r>
              <a:rPr lang="en-US" altLang="zh-CN" dirty="0">
                <a:latin typeface="Consolas" panose="020B0609020204030204" pitchFamily="49" charset="0"/>
              </a:rPr>
              <a:t>int </a:t>
            </a:r>
            <a:r>
              <a:rPr lang="en-US" altLang="zh-CN" dirty="0" err="1">
                <a:latin typeface="Consolas" panose="020B0609020204030204" pitchFamily="49" charset="0"/>
              </a:rPr>
              <a:t>ListGetLength</a:t>
            </a:r>
            <a:r>
              <a:rPr lang="en-US" altLang="zh-CN" dirty="0">
                <a:latin typeface="Consolas" panose="020B0609020204030204" pitchFamily="49" charset="0"/>
              </a:rPr>
              <a:t>(List* </a:t>
            </a:r>
            <a:r>
              <a:rPr lang="en-US" altLang="zh-CN" dirty="0" err="1">
                <a:latin typeface="Consolas" panose="020B0609020204030204" pitchFamily="49" charset="0"/>
              </a:rPr>
              <a:t>pList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altLang="zh-CN" dirty="0">
                <a:latin typeface="Consolas" panose="020B0609020204030204" pitchFamily="49" charset="0"/>
              </a:rPr>
              <a:t>int </a:t>
            </a:r>
            <a:r>
              <a:rPr lang="en-US" altLang="zh-CN" dirty="0" err="1">
                <a:latin typeface="Consolas" panose="020B0609020204030204" pitchFamily="49" charset="0"/>
              </a:rPr>
              <a:t>ListGetSize</a:t>
            </a:r>
            <a:r>
              <a:rPr lang="en-US" altLang="zh-CN" dirty="0">
                <a:latin typeface="Consolas" panose="020B0609020204030204" pitchFamily="49" charset="0"/>
              </a:rPr>
              <a:t>(List* </a:t>
            </a:r>
            <a:r>
              <a:rPr lang="en-US" altLang="zh-CN" dirty="0" err="1">
                <a:latin typeface="Consolas" panose="020B0609020204030204" pitchFamily="49" charset="0"/>
              </a:rPr>
              <a:t>pList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altLang="zh-CN" dirty="0">
                <a:latin typeface="Consolas" panose="020B0609020204030204" pitchFamily="49" charset="0"/>
              </a:rPr>
              <a:t>void* </a:t>
            </a:r>
            <a:r>
              <a:rPr lang="en-US" altLang="zh-CN" dirty="0" err="1">
                <a:latin typeface="Consolas" panose="020B0609020204030204" pitchFamily="49" charset="0"/>
              </a:rPr>
              <a:t>ListGetData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ListNode</a:t>
            </a:r>
            <a:r>
              <a:rPr lang="en-US" altLang="zh-CN" dirty="0">
                <a:latin typeface="Consolas" panose="020B0609020204030204" pitchFamily="49" charset="0"/>
              </a:rPr>
              <a:t>* </a:t>
            </a:r>
            <a:r>
              <a:rPr lang="en-US" altLang="zh-CN" dirty="0" err="1">
                <a:latin typeface="Consolas" panose="020B0609020204030204" pitchFamily="49" charset="0"/>
              </a:rPr>
              <a:t>pNode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altLang="zh-CN" dirty="0">
                <a:latin typeface="Consolas" panose="020B0609020204030204" pitchFamily="49" charset="0"/>
              </a:rPr>
              <a:t>bool </a:t>
            </a:r>
            <a:r>
              <a:rPr lang="en-US" altLang="zh-CN" dirty="0" err="1">
                <a:latin typeface="Consolas" panose="020B0609020204030204" pitchFamily="49" charset="0"/>
              </a:rPr>
              <a:t>ListIsEmpty</a:t>
            </a:r>
            <a:r>
              <a:rPr lang="en-US" altLang="zh-CN" dirty="0">
                <a:latin typeface="Consolas" panose="020B0609020204030204" pitchFamily="49" charset="0"/>
              </a:rPr>
              <a:t>(List* </a:t>
            </a:r>
            <a:r>
              <a:rPr lang="en-US" altLang="zh-CN" dirty="0" err="1">
                <a:latin typeface="Consolas" panose="020B0609020204030204" pitchFamily="49" charset="0"/>
              </a:rPr>
              <a:t>pList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altLang="zh-CN" dirty="0">
                <a:latin typeface="Consolas" panose="020B0609020204030204" pitchFamily="49" charset="0"/>
              </a:rPr>
              <a:t>Status </a:t>
            </a:r>
            <a:r>
              <a:rPr lang="en-US" altLang="zh-CN" dirty="0" err="1">
                <a:latin typeface="Consolas" panose="020B0609020204030204" pitchFamily="49" charset="0"/>
              </a:rPr>
              <a:t>ListDeleteNode</a:t>
            </a:r>
            <a:r>
              <a:rPr lang="en-US" altLang="zh-CN" dirty="0">
                <a:latin typeface="Consolas" panose="020B0609020204030204" pitchFamily="49" charset="0"/>
              </a:rPr>
              <a:t>(……);</a:t>
            </a:r>
          </a:p>
          <a:p>
            <a:pPr lvl="1"/>
            <a:r>
              <a:rPr lang="en-US" altLang="zh-CN" dirty="0">
                <a:latin typeface="Consolas" panose="020B0609020204030204" pitchFamily="49" charset="0"/>
              </a:rPr>
              <a:t>Status </a:t>
            </a:r>
            <a:r>
              <a:rPr lang="en-US" altLang="zh-CN" dirty="0" err="1">
                <a:latin typeface="Consolas" panose="020B0609020204030204" pitchFamily="49" charset="0"/>
              </a:rPr>
              <a:t>ListSort</a:t>
            </a:r>
            <a:r>
              <a:rPr lang="en-US" altLang="zh-CN" dirty="0">
                <a:latin typeface="Consolas" panose="020B0609020204030204" pitchFamily="49" charset="0"/>
              </a:rPr>
              <a:t>(……);</a:t>
            </a:r>
          </a:p>
          <a:p>
            <a:pPr lvl="1"/>
            <a:r>
              <a:rPr lang="zh-CN" altLang="en-US" dirty="0">
                <a:latin typeface="Consolas" panose="020B0609020204030204" pitchFamily="49" charset="0"/>
              </a:rPr>
              <a:t>还有取第一个节点、取最后一个节点、取某个节点前面的节点等操作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C9596A-0BB4-BC2F-1878-6E1006E33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8C2523-5321-FC76-4621-4559A1EF6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5E1BD9-C725-EA22-727E-698491ADE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65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78971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83ACDF-F3B9-B23B-7ADA-4A1915EB4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7AB458-A0D1-ABDB-5DED-513638D62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用</a:t>
            </a:r>
            <a:r>
              <a:rPr lang="en-US" altLang="zh-CN" dirty="0"/>
              <a:t>typedef</a:t>
            </a:r>
            <a:r>
              <a:rPr lang="zh-CN" altLang="en-US" dirty="0"/>
              <a:t>自定义枚举、结构等类型</a:t>
            </a:r>
            <a:endParaRPr lang="en-US" altLang="zh-CN" dirty="0"/>
          </a:p>
          <a:p>
            <a:r>
              <a:rPr lang="zh-CN" altLang="en-US" dirty="0"/>
              <a:t>数据结构、数据类型和面向对象等概念</a:t>
            </a:r>
            <a:endParaRPr lang="en-US" altLang="zh-CN" dirty="0"/>
          </a:p>
          <a:p>
            <a:r>
              <a:rPr lang="zh-CN" altLang="en-US" dirty="0"/>
              <a:t>面向对象和面向过程的程序设计方法</a:t>
            </a:r>
            <a:endParaRPr lang="en-US" altLang="zh-CN" dirty="0"/>
          </a:p>
          <a:p>
            <a:r>
              <a:rPr lang="zh-CN" altLang="en-US" dirty="0"/>
              <a:t>栈和泛型栈的实现</a:t>
            </a:r>
            <a:endParaRPr lang="en-US" altLang="zh-CN" dirty="0"/>
          </a:p>
          <a:p>
            <a:r>
              <a:rPr lang="zh-CN" altLang="en-US" dirty="0"/>
              <a:t>泛型链表的实现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1A2B39-19A2-1BBA-5E45-0F01017D5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9A428-15CE-47F7-B786-5CB77FF2FD9E}" type="datetime1">
              <a:rPr lang="zh-CN" altLang="en-US" smtClean="0"/>
              <a:t>2025/9/20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F89944-F09F-FB41-4FA2-FFF909610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教材：张学</a:t>
            </a:r>
            <a:r>
              <a:rPr lang="en-US" altLang="zh-CN"/>
              <a:t>《C</a:t>
            </a:r>
            <a:r>
              <a:rPr lang="zh-CN" altLang="en-US"/>
              <a:t>语言程序设计讲义</a:t>
            </a:r>
            <a:r>
              <a:rPr lang="en-US" altLang="zh-CN"/>
              <a:t>》</a:t>
            </a:r>
            <a:r>
              <a:rPr lang="zh-CN" altLang="en-US"/>
              <a:t>清华大学出版社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A8186E-6E24-F1FC-6D88-037E5D8FC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6FD7-D3D8-4931-A61F-A263E2CB9705}" type="slidenum">
              <a:rPr lang="zh-CN" altLang="en-US" smtClean="0"/>
              <a:pPr/>
              <a:t>66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7514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4829</TotalTime>
  <Words>2253</Words>
  <Application>Microsoft Office PowerPoint</Application>
  <PresentationFormat>宽屏</PresentationFormat>
  <Paragraphs>391</Paragraphs>
  <Slides>66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75" baseType="lpstr">
      <vt:lpstr>等线</vt:lpstr>
      <vt:lpstr>楷体</vt:lpstr>
      <vt:lpstr>微软雅黑</vt:lpstr>
      <vt:lpstr>Arial</vt:lpstr>
      <vt:lpstr>Consolas</vt:lpstr>
      <vt:lpstr>Tahoma</vt:lpstr>
      <vt:lpstr>Times New Roman</vt:lpstr>
      <vt:lpstr>Wingdings</vt:lpstr>
      <vt:lpstr>Office 主题​​</vt:lpstr>
      <vt:lpstr>第8章  数据结构</vt:lpstr>
      <vt:lpstr>定义新的数据类型</vt:lpstr>
      <vt:lpstr>枚举类型：值可以枚举</vt:lpstr>
      <vt:lpstr>布尔类型：取值真或假</vt:lpstr>
      <vt:lpstr>如何适应C24</vt:lpstr>
      <vt:lpstr>结构类型</vt:lpstr>
      <vt:lpstr>定义和使用结构变量</vt:lpstr>
      <vt:lpstr>求平面上两点间的距离</vt:lpstr>
      <vt:lpstr>定义新的数据类型</vt:lpstr>
      <vt:lpstr>栈：后进先出的数据结构</vt:lpstr>
      <vt:lpstr>简单栈的实现</vt:lpstr>
      <vt:lpstr>简单栈的实现</vt:lpstr>
      <vt:lpstr>简单栈的实现</vt:lpstr>
      <vt:lpstr>简单栈的实现</vt:lpstr>
      <vt:lpstr>栈在进制转换中的应用</vt:lpstr>
      <vt:lpstr>P81SimpleStack.c</vt:lpstr>
      <vt:lpstr>P81SimpleStack.c</vt:lpstr>
      <vt:lpstr>数据的逻辑结构</vt:lpstr>
      <vt:lpstr>数据的物理结构</vt:lpstr>
      <vt:lpstr>什么是数据类型</vt:lpstr>
      <vt:lpstr>类和对象</vt:lpstr>
      <vt:lpstr>对象的属性和行为</vt:lpstr>
      <vt:lpstr>面向过程和面向对象</vt:lpstr>
      <vt:lpstr>怎样面向过程和面向对象</vt:lpstr>
      <vt:lpstr>用C语言做面向对象的程序设计</vt:lpstr>
      <vt:lpstr>操作函数的命名</vt:lpstr>
      <vt:lpstr>静态对象和动态对象</vt:lpstr>
      <vt:lpstr>创建和销毁静态对象</vt:lpstr>
      <vt:lpstr>创建和销毁动态对象</vt:lpstr>
      <vt:lpstr>C程序员常犯的错误</vt:lpstr>
      <vt:lpstr>用动态数组实现栈</vt:lpstr>
      <vt:lpstr>初始化栈-Init</vt:lpstr>
      <vt:lpstr>释放栈-Free</vt:lpstr>
      <vt:lpstr>清空栈、判断栈空、求栈的长度</vt:lpstr>
      <vt:lpstr>取栈顶元素-Peek</vt:lpstr>
      <vt:lpstr>进栈-Push</vt:lpstr>
      <vt:lpstr>进栈-Push</vt:lpstr>
      <vt:lpstr>出栈-Pop</vt:lpstr>
      <vt:lpstr>遍历栈-Traverse</vt:lpstr>
      <vt:lpstr>栈的实现及测试 P82Stack.c</vt:lpstr>
      <vt:lpstr>P82Stack.c</vt:lpstr>
      <vt:lpstr>栈的改进</vt:lpstr>
      <vt:lpstr>通用指针 void*</vt:lpstr>
      <vt:lpstr>泛型栈</vt:lpstr>
      <vt:lpstr>构造函数-Construct</vt:lpstr>
      <vt:lpstr>构造函数-Construct</vt:lpstr>
      <vt:lpstr>析构函数-Destruct</vt:lpstr>
      <vt:lpstr>链表</vt:lpstr>
      <vt:lpstr>泛型链表的一种定义</vt:lpstr>
      <vt:lpstr>创建节点-MakeNode</vt:lpstr>
      <vt:lpstr>创建节点-MakeNode</vt:lpstr>
      <vt:lpstr>释放节点-FreeNode</vt:lpstr>
      <vt:lpstr>构造链表-Construct</vt:lpstr>
      <vt:lpstr>析构链表-Destruct</vt:lpstr>
      <vt:lpstr>清空链表-Clear</vt:lpstr>
      <vt:lpstr>在头部插入-InsertAtFront</vt:lpstr>
      <vt:lpstr>在尾部追加-Append</vt:lpstr>
      <vt:lpstr>在尾部追加-Append</vt:lpstr>
      <vt:lpstr>在某节点后插入-InsertAfter</vt:lpstr>
      <vt:lpstr>删除第一个节点-DeleteFirstNode</vt:lpstr>
      <vt:lpstr>删除最后一个节点-DeleteLastNode</vt:lpstr>
      <vt:lpstr>删除最后一个节点-DeleteLastNode</vt:lpstr>
      <vt:lpstr>查找-Search</vt:lpstr>
      <vt:lpstr>遍历-Traverse</vt:lpstr>
      <vt:lpstr>其他函数</vt:lpstr>
      <vt:lpstr>本章小结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xue zhang</dc:creator>
  <cp:lastModifiedBy>xue zhang</cp:lastModifiedBy>
  <cp:revision>245</cp:revision>
  <dcterms:created xsi:type="dcterms:W3CDTF">2025-09-05T03:41:43Z</dcterms:created>
  <dcterms:modified xsi:type="dcterms:W3CDTF">2025-09-20T11:22:50Z</dcterms:modified>
</cp:coreProperties>
</file>