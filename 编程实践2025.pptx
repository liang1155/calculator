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336" r:id="rId3"/>
    <p:sldId id="337" r:id="rId4"/>
    <p:sldId id="338" r:id="rId5"/>
    <p:sldId id="339" r:id="rId6"/>
    <p:sldId id="341" r:id="rId7"/>
    <p:sldId id="342" r:id="rId8"/>
    <p:sldId id="343" r:id="rId9"/>
    <p:sldId id="344" r:id="rId10"/>
    <p:sldId id="345" r:id="rId11"/>
    <p:sldId id="346" r:id="rId12"/>
    <p:sldId id="347" r:id="rId13"/>
    <p:sldId id="348" r:id="rId14"/>
    <p:sldId id="349" r:id="rId15"/>
    <p:sldId id="350" r:id="rId16"/>
    <p:sldId id="351" r:id="rId17"/>
    <p:sldId id="352" r:id="rId18"/>
    <p:sldId id="353" r:id="rId19"/>
    <p:sldId id="35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  <a:srgbClr val="9292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147AF4-45A3-4A56-A6CC-B5BEA54C00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9D8886-607F-4C90-9057-80927CAE22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882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D329E3-A3BB-22A9-7A02-8C0E49B169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05778"/>
            <a:ext cx="9144000" cy="2387600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72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5ADD68-A283-8804-4EDA-4E76BB7C56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5B90B0-6B97-ED3F-68AB-3A7A19C765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2194560" cy="365125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536CAC6-0FDD-41EF-A81A-0820DD54FD25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53B221-E8ED-FE8E-4EC7-A712E7011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2332" y="6356349"/>
            <a:ext cx="5405436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教材：张学</a:t>
            </a:r>
            <a:r>
              <a:rPr lang="en-US" altLang="zh-CN" dirty="0"/>
              <a:t>《C</a:t>
            </a:r>
            <a:r>
              <a:rPr lang="zh-CN" altLang="en-US" dirty="0"/>
              <a:t>语言程序设计讲义</a:t>
            </a:r>
            <a:r>
              <a:rPr lang="en-US" altLang="zh-CN" dirty="0"/>
              <a:t>》</a:t>
            </a:r>
            <a:r>
              <a:rPr lang="zh-CN" altLang="en-US" dirty="0"/>
              <a:t>清华大学出版社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76C198-BFEF-55B5-0E10-7943621C9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10725" y="6356350"/>
            <a:ext cx="2194560" cy="365125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0B06FD7-D3D8-4931-A61F-A263E2CB9705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7113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5BC633-4FEF-67FB-E54A-99D01E2D4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275" y="365126"/>
            <a:ext cx="10296525" cy="886626"/>
          </a:xfrm>
        </p:spPr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F937C5-5F7D-2D3B-59F1-45AA53CD4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0873"/>
            <a:ext cx="10515600" cy="4854190"/>
          </a:xfrm>
        </p:spPr>
        <p:txBody>
          <a:bodyPr/>
          <a:lstStyle>
            <a:lvl1pPr marL="342000" indent="-342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62000"/>
              <a:buFont typeface="Wingdings" panose="05000000000000000000" pitchFamily="2" charset="2"/>
              <a:buChar char="n"/>
              <a:defRPr sz="3600" b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3420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77000"/>
              <a:buFont typeface="Wingdings" panose="05000000000000000000" pitchFamily="2" charset="2"/>
              <a:buChar char="Ø"/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08000" indent="-2160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62000"/>
              <a:buFont typeface="Arial" panose="020B0604020202020204" pitchFamily="34" charset="0"/>
              <a:buChar char="•"/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buFont typeface="Wingdings" panose="05000000000000000000" pitchFamily="2" charset="2"/>
              <a:buChar char="n"/>
              <a:defRPr/>
            </a:lvl4pPr>
            <a:lvl5pPr marL="2057400" indent="-228600">
              <a:buFont typeface="Wingdings" panose="05000000000000000000" pitchFamily="2" charset="2"/>
              <a:buChar char="n"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20" name="日期占位符 3">
            <a:extLst>
              <a:ext uri="{FF2B5EF4-FFF2-40B4-BE49-F238E27FC236}">
                <a16:creationId xmlns:a16="http://schemas.microsoft.com/office/drawing/2014/main" id="{AAA26B85-E753-3A73-64BA-107DEA1461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2194560" cy="365125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7D9A428-15CE-47F7-B786-5CB77FF2FD9E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21" name="页脚占位符 4">
            <a:extLst>
              <a:ext uri="{FF2B5EF4-FFF2-40B4-BE49-F238E27FC236}">
                <a16:creationId xmlns:a16="http://schemas.microsoft.com/office/drawing/2014/main" id="{07AFF507-BBCA-EA6C-D595-17565697E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2332" y="6356349"/>
            <a:ext cx="5405436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教材：张学</a:t>
            </a:r>
            <a:r>
              <a:rPr lang="en-US" altLang="zh-CN" dirty="0"/>
              <a:t>《C</a:t>
            </a:r>
            <a:r>
              <a:rPr lang="zh-CN" altLang="en-US" dirty="0"/>
              <a:t>语言程序设计讲义</a:t>
            </a:r>
            <a:r>
              <a:rPr lang="en-US" altLang="zh-CN" dirty="0"/>
              <a:t>》</a:t>
            </a:r>
            <a:r>
              <a:rPr lang="zh-CN" altLang="en-US" dirty="0"/>
              <a:t>清华大学出版社</a:t>
            </a:r>
          </a:p>
        </p:txBody>
      </p:sp>
      <p:sp>
        <p:nvSpPr>
          <p:cNvPr id="22" name="灯片编号占位符 5">
            <a:extLst>
              <a:ext uri="{FF2B5EF4-FFF2-40B4-BE49-F238E27FC236}">
                <a16:creationId xmlns:a16="http://schemas.microsoft.com/office/drawing/2014/main" id="{3C74EBF7-61F8-942B-B4FA-1E00B9E7B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10725" y="6356350"/>
            <a:ext cx="2194560" cy="365125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0B06FD7-D3D8-4931-A61F-A263E2CB9705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206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120036-B1D2-C776-CC1C-488B25E7C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85A2E1-4418-CC8D-2323-CF65D2600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02E30A-212E-AC6D-41AD-FC1D36E9E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8625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AAAF10-F9EF-4AD8-BE21-06D5F34A331F}" type="datetime1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862A68-AF27-EC8D-BF87-2AEDFF030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650" y="6356350"/>
            <a:ext cx="577215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3448B1-2310-06E3-C9C3-5FFE1FA7C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B06FD7-D3D8-4931-A61F-A263E2CB9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916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A2ECBD-EA0C-7E6D-9176-399A82663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AEA53A-8ED8-6975-4ADA-AD2A93D9DF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C2320A-4880-374C-3D27-D39385FD6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53C0CC-DC9D-9192-9870-837FFE6B86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8625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F6A3C6-E4C7-4C7D-A394-28F2986F3793}" type="datetime1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4E5B58-9483-D339-E521-E1F26B8AB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650" y="6356350"/>
            <a:ext cx="577215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B43012-70FA-0363-579B-B288A452C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B06FD7-D3D8-4931-A61F-A263E2CB9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879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D9AB55-26B4-C2C9-0A12-7978577AE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763" y="107950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A2A5ED-6C8F-A4B9-2511-3210FAF63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D8235F-1B7F-0DFF-69DC-BC0BAD317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0838959-2BC2-2F20-C2B4-472BC2F15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BDA6232-C9C2-9508-86F8-9FB0A8B36B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BDB5F3F-A111-FDF6-B033-F7ECDCCF04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8625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17E0A87-AF9A-4184-B44F-BCCD3C4EE0C9}" type="datetime1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EE95EA4-4C79-F699-DC00-B7E482BC8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650" y="6356350"/>
            <a:ext cx="577215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978A3CD-CBD1-FDEF-E7DA-4AD6CC3F5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B06FD7-D3D8-4931-A61F-A263E2CB9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454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2370D4-67C4-910D-38A3-EC8FF6D49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7872E8B-855F-CC28-47A0-18D8379CA6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8625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029EE3-03D9-48C8-A180-16DB448E6377}" type="datetime1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9A3FE20-09EC-2337-965C-05D9BBDFE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650" y="6356350"/>
            <a:ext cx="577215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B076F3-65EF-B8C3-5795-DC0FE8108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B06FD7-D3D8-4931-A61F-A263E2CB9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747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149F853-F514-26AC-D6D8-427759EDCA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8625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EE27BB-B952-44E6-85D2-010F15422A47}" type="datetime1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1EA4CA-1390-1E36-0FB7-9F3DA244D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650" y="6356350"/>
            <a:ext cx="577215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55CAC2-AF63-4A57-AA83-A3009AD71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B06FD7-D3D8-4931-A61F-A263E2CB9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002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9B82AA-4EB0-EEFC-7CCF-E63539307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566A4F-7521-DCD6-15B1-32E06A564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AD2B4A-D907-AF0D-260B-3052684D8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CD5972-04C6-AC31-82FF-4B238C65BF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8625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231228-81DA-46FF-8597-3EAFB0DF4AEC}" type="datetime1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49FABD-927D-3671-D144-6BFEF9632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650" y="6356350"/>
            <a:ext cx="577215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A9A6C3-6915-F7D0-ADF2-C9FAA533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B06FD7-D3D8-4931-A61F-A263E2CB9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8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3EA9FF-E597-423F-7AC3-22E02F1F0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9DDAEA8-571D-44E1-B07D-7EBAAF5EE5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4189BB-040D-C56D-10E4-8CDC2706C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A43419-8270-1F6A-0E6E-C941D039BB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8625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268C80-47FE-49E4-B4B9-35F34F2FF947}" type="datetime1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978C85-2B74-56DF-BE36-8E250562A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650" y="6356350"/>
            <a:ext cx="577215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9A92EB-C413-ED0F-6EDC-586121B94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B06FD7-D3D8-4931-A61F-A263E2CB9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846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A64B2D-2864-5A63-E685-818A34141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D23E59-963D-A325-E667-AE8947D7B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00BD1F-1C08-EBDA-1731-AF1ACB44F6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8625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802BD2-6A3E-4BF6-B907-E68A90E4224D}" type="datetime1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E55FEB-9DA5-8FD9-DF30-F60226E34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650" y="6356350"/>
            <a:ext cx="577215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F73148-CB80-ED78-A7B9-81F113F26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B06FD7-D3D8-4931-A61F-A263E2CB9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85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33FC39E-5374-0986-C26F-9506C033BF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7B6DBF-5D65-1CCF-07A2-DD5F3C586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6CEFB6-9867-2084-6195-FD954849A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8625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5A83E4-021B-4ADA-B497-33E3C8CA3B11}" type="datetime1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F9C57F-E457-B8E0-E1F8-4B95CDD8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650" y="6356350"/>
            <a:ext cx="577215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2F9627-2931-361E-24C4-215A09AA3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B06FD7-D3D8-4931-A61F-A263E2CB9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423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CD2B0D2-2D0B-988E-F12E-C17B5C68E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425" y="384175"/>
            <a:ext cx="10515600" cy="8777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2E0FA0-B9B0-752E-4D10-2B5E4826A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13895"/>
            <a:ext cx="10515600" cy="48630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B4E5F063-A115-8C57-66C5-0756FB5F3B9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4775" y="314319"/>
            <a:ext cx="8125824" cy="1006286"/>
            <a:chOff x="0" y="1536"/>
            <a:chExt cx="5675" cy="663"/>
          </a:xfrm>
        </p:grpSpPr>
        <p:grpSp>
          <p:nvGrpSpPr>
            <p:cNvPr id="8" name="Group 3">
              <a:extLst>
                <a:ext uri="{FF2B5EF4-FFF2-40B4-BE49-F238E27FC236}">
                  <a16:creationId xmlns:a16="http://schemas.microsoft.com/office/drawing/2014/main" id="{60256762-F6FA-4801-C69F-2776FC0EDB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5" name="Rectangle 4">
                <a:extLst>
                  <a:ext uri="{FF2B5EF4-FFF2-40B4-BE49-F238E27FC236}">
                    <a16:creationId xmlns:a16="http://schemas.microsoft.com/office/drawing/2014/main" id="{7F0BEE3B-AD80-F534-03EC-BB9BE0C241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rgbClr val="92929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6" name="Rectangle 5">
                <a:extLst>
                  <a:ext uri="{FF2B5EF4-FFF2-40B4-BE49-F238E27FC236}">
                    <a16:creationId xmlns:a16="http://schemas.microsoft.com/office/drawing/2014/main" id="{E21185CD-8576-8ABF-17E9-5B55239E2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flip="none" rotWithShape="1">
                <a:gsLst>
                  <a:gs pos="6000">
                    <a:srgbClr val="929292">
                      <a:tint val="66000"/>
                      <a:satMod val="160000"/>
                    </a:srgbClr>
                  </a:gs>
                  <a:gs pos="50000">
                    <a:srgbClr val="929292">
                      <a:tint val="44500"/>
                      <a:satMod val="160000"/>
                    </a:srgbClr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9" name="Group 6">
              <a:extLst>
                <a:ext uri="{FF2B5EF4-FFF2-40B4-BE49-F238E27FC236}">
                  <a16:creationId xmlns:a16="http://schemas.microsoft.com/office/drawing/2014/main" id="{7E31E593-7DC4-65B1-5626-B782B617D4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3" name="Rectangle 7">
                <a:extLst>
                  <a:ext uri="{FF2B5EF4-FFF2-40B4-BE49-F238E27FC236}">
                    <a16:creationId xmlns:a16="http://schemas.microsoft.com/office/drawing/2014/main" id="{CCD84F74-44F6-8624-DBA8-E43522990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4" name="Rectangle 8">
                <a:extLst>
                  <a:ext uri="{FF2B5EF4-FFF2-40B4-BE49-F238E27FC236}">
                    <a16:creationId xmlns:a16="http://schemas.microsoft.com/office/drawing/2014/main" id="{938A87BF-3733-8596-4F70-FE1AA7ED2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BD50C0A-BE6A-3931-34AB-48BEBF5BA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flip="none" rotWithShape="1">
              <a:gsLst>
                <a:gs pos="0">
                  <a:srgbClr val="2F5597"/>
                </a:gs>
                <a:gs pos="50000">
                  <a:srgbClr val="2F5597">
                    <a:tint val="44500"/>
                    <a:satMod val="160000"/>
                  </a:srgbClr>
                </a:gs>
                <a:gs pos="100000">
                  <a:schemeClr val="bg1"/>
                </a:gs>
              </a:gsLst>
              <a:lin ang="8100000" scaled="1"/>
              <a:tileRect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9B220FF-7E6B-2623-D6D1-D2CBF9D0F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CF9612B-0F69-3088-E288-6FA7ADF9237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30" name="日期占位符 3">
            <a:extLst>
              <a:ext uri="{FF2B5EF4-FFF2-40B4-BE49-F238E27FC236}">
                <a16:creationId xmlns:a16="http://schemas.microsoft.com/office/drawing/2014/main" id="{488EFD6C-A760-E2FC-7929-1CF78D9C63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194560" cy="365125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29044BD-136C-4849-B65C-1680DC708407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31" name="页脚占位符 4">
            <a:extLst>
              <a:ext uri="{FF2B5EF4-FFF2-40B4-BE49-F238E27FC236}">
                <a16:creationId xmlns:a16="http://schemas.microsoft.com/office/drawing/2014/main" id="{EA486E60-907E-C425-FB23-48B0FD808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12332" y="6356349"/>
            <a:ext cx="5405436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教材：张学</a:t>
            </a:r>
            <a:r>
              <a:rPr lang="en-US" altLang="zh-CN" dirty="0"/>
              <a:t>《C</a:t>
            </a:r>
            <a:r>
              <a:rPr lang="zh-CN" altLang="en-US" dirty="0"/>
              <a:t>语言程序设计讲义</a:t>
            </a:r>
            <a:r>
              <a:rPr lang="en-US" altLang="zh-CN" dirty="0"/>
              <a:t>》</a:t>
            </a:r>
            <a:r>
              <a:rPr lang="zh-CN" altLang="en-US" dirty="0"/>
              <a:t>清华大学出版社</a:t>
            </a:r>
          </a:p>
        </p:txBody>
      </p:sp>
      <p:sp>
        <p:nvSpPr>
          <p:cNvPr id="32" name="灯片编号占位符 5">
            <a:extLst>
              <a:ext uri="{FF2B5EF4-FFF2-40B4-BE49-F238E27FC236}">
                <a16:creationId xmlns:a16="http://schemas.microsoft.com/office/drawing/2014/main" id="{929F7185-D8D9-7115-D285-89F23C204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10725" y="6356350"/>
            <a:ext cx="2194560" cy="365125"/>
          </a:xfrm>
          <a:prstGeom prst="rect">
            <a:avLst/>
          </a:prstGeom>
        </p:spPr>
        <p:txBody>
          <a:bodyPr/>
          <a:lstStyle>
            <a:lvl1pPr algn="r"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0B06FD7-D3D8-4931-A61F-A263E2CB9705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1205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>
              <a:lumMod val="7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42000" indent="-342000" algn="l" defTabSz="914400" rtl="0" eaLnBrk="1" latinLnBrk="0" hangingPunct="1">
        <a:lnSpc>
          <a:spcPct val="125000"/>
        </a:lnSpc>
        <a:spcBef>
          <a:spcPts val="600"/>
        </a:spcBef>
        <a:spcAft>
          <a:spcPts val="600"/>
        </a:spcAft>
        <a:buClr>
          <a:srgbClr val="0070C0"/>
        </a:buClr>
        <a:buSzPct val="62000"/>
        <a:buFont typeface="Wingdings" panose="05000000000000000000" pitchFamily="2" charset="2"/>
        <a:buChar char="n"/>
        <a:defRPr sz="3600" kern="1200">
          <a:solidFill>
            <a:schemeClr val="accent1">
              <a:lumMod val="7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34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070C0"/>
        </a:buClr>
        <a:buFont typeface="Wingdings" panose="05000000000000000000" pitchFamily="2" charset="2"/>
        <a:buChar char="Ø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0C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9379FD-FBBE-5EAB-2B99-FD47D472AE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编程实践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525EAAF-E0BB-3DF2-4987-B9B3DB7910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78238"/>
            <a:ext cx="9144000" cy="16557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cs typeface="Times New Roman" panose="02020603050405020304" pitchFamily="18" charset="0"/>
              </a:rPr>
              <a:t>11</a:t>
            </a:r>
            <a:r>
              <a:rPr lang="zh-CN" altLang="en-US" b="1" dirty="0">
                <a:cs typeface="Times New Roman" panose="02020603050405020304" pitchFamily="18" charset="0"/>
              </a:rPr>
              <a:t>、</a:t>
            </a:r>
            <a:r>
              <a:rPr lang="en-US" altLang="zh-CN" b="1" dirty="0">
                <a:cs typeface="Times New Roman" panose="02020603050405020304" pitchFamily="18" charset="0"/>
              </a:rPr>
              <a:t>14</a:t>
            </a:r>
            <a:r>
              <a:rPr lang="zh-CN" altLang="en-US" b="1" dirty="0">
                <a:cs typeface="Times New Roman" panose="02020603050405020304" pitchFamily="18" charset="0"/>
              </a:rPr>
              <a:t>、</a:t>
            </a:r>
            <a:r>
              <a:rPr lang="en-US" altLang="zh-CN" b="1" dirty="0">
                <a:cs typeface="Times New Roman" panose="02020603050405020304" pitchFamily="18" charset="0"/>
              </a:rPr>
              <a:t>15</a:t>
            </a:r>
            <a:r>
              <a:rPr lang="zh-CN" altLang="en-US" b="1" dirty="0">
                <a:cs typeface="Times New Roman" panose="02020603050405020304" pitchFamily="18" charset="0"/>
              </a:rPr>
              <a:t>、</a:t>
            </a:r>
            <a:r>
              <a:rPr lang="en-US" altLang="zh-CN" b="1" dirty="0">
                <a:cs typeface="Times New Roman" panose="02020603050405020304" pitchFamily="18" charset="0"/>
              </a:rPr>
              <a:t>16</a:t>
            </a:r>
            <a:r>
              <a:rPr lang="zh-CN" altLang="en-US" b="1" dirty="0">
                <a:cs typeface="Times New Roman" panose="02020603050405020304" pitchFamily="18" charset="0"/>
              </a:rPr>
              <a:t>周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cs typeface="Times New Roman" panose="02020603050405020304" pitchFamily="18" charset="0"/>
              </a:rPr>
              <a:t>题目提前</a:t>
            </a:r>
            <a:r>
              <a:rPr lang="en-US" altLang="zh-CN" b="1" dirty="0">
                <a:cs typeface="Times New Roman" panose="02020603050405020304" pitchFamily="18" charset="0"/>
              </a:rPr>
              <a:t>3</a:t>
            </a:r>
            <a:r>
              <a:rPr lang="zh-CN" altLang="en-US" b="1">
                <a:cs typeface="Times New Roman" panose="02020603050405020304" pitchFamily="18" charset="0"/>
              </a:rPr>
              <a:t>周布置</a:t>
            </a:r>
            <a:endParaRPr lang="zh-CN" altLang="en-US" dirty="0">
              <a:cs typeface="Times New Roman" panose="02020603050405020304" pitchFamily="18" charset="0"/>
            </a:endParaRPr>
          </a:p>
        </p:txBody>
      </p:sp>
      <p:sp>
        <p:nvSpPr>
          <p:cNvPr id="13" name="日期占位符 12">
            <a:extLst>
              <a:ext uri="{FF2B5EF4-FFF2-40B4-BE49-F238E27FC236}">
                <a16:creationId xmlns:a16="http://schemas.microsoft.com/office/drawing/2014/main" id="{7D57AFAD-DF88-3C94-1A31-C7B03C4CE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BF8-32E4-45C4-BD29-29CAF658F9E8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14" name="页脚占位符 13">
            <a:extLst>
              <a:ext uri="{FF2B5EF4-FFF2-40B4-BE49-F238E27FC236}">
                <a16:creationId xmlns:a16="http://schemas.microsoft.com/office/drawing/2014/main" id="{0F64575F-6095-3EA9-B54C-8BD4F913E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247887EA-E5C5-07A5-0952-53AC41F73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9177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5DF8F0-C064-AD18-DB75-7CB25055C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题目：计算器（设计思路见教材第</a:t>
            </a:r>
            <a:r>
              <a:rPr lang="en-US" altLang="zh-CN" dirty="0"/>
              <a:t>10</a:t>
            </a:r>
            <a:r>
              <a:rPr lang="zh-CN" altLang="en-US" dirty="0"/>
              <a:t>章）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79817E-63E8-90FD-798A-872D69A6A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0873"/>
            <a:ext cx="10096500" cy="4854190"/>
          </a:xfrm>
        </p:spPr>
        <p:txBody>
          <a:bodyPr/>
          <a:lstStyle/>
          <a:p>
            <a:r>
              <a:rPr lang="zh-CN" altLang="en-US" dirty="0"/>
              <a:t>功能：计算表达式的值</a:t>
            </a:r>
            <a:endParaRPr lang="en-US" altLang="zh-CN" dirty="0"/>
          </a:p>
          <a:p>
            <a:r>
              <a:rPr lang="zh-CN" altLang="en-US" dirty="0"/>
              <a:t>输入：以字符串形式从键盘输入单个表达式，表达式由</a:t>
            </a:r>
            <a:r>
              <a:rPr lang="en-US" altLang="zh-CN" dirty="0"/>
              <a:t>+</a:t>
            </a:r>
            <a:r>
              <a:rPr lang="zh-CN" altLang="en-US" dirty="0"/>
              <a:t>、</a:t>
            </a:r>
            <a:r>
              <a:rPr lang="en-US" altLang="zh-CN" dirty="0"/>
              <a:t>-</a:t>
            </a:r>
            <a:r>
              <a:rPr lang="zh-CN" altLang="en-US" dirty="0"/>
              <a:t>、*、</a:t>
            </a:r>
            <a:r>
              <a:rPr lang="en-US" altLang="zh-CN" dirty="0"/>
              <a:t>/</a:t>
            </a:r>
            <a:r>
              <a:rPr lang="zh-CN" altLang="en-US" dirty="0"/>
              <a:t>、圆括号、阿拉伯数字和小数点组成</a:t>
            </a:r>
            <a:endParaRPr lang="en-US" altLang="zh-CN" dirty="0"/>
          </a:p>
          <a:p>
            <a:r>
              <a:rPr lang="zh-CN" altLang="en-US" dirty="0"/>
              <a:t>输出：计算结果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F9671B-BAA4-FFBE-2F45-B6D2701B3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286C28-1F28-0CB2-E855-9E2DD9C11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6FEB64-5B24-6FDD-A7A4-251FB825A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738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AF28D-A4F7-325E-5345-7E4F602B0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3EA47C-C1FD-5AE5-8D57-7EBC06764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综合应用</a:t>
            </a:r>
            <a:r>
              <a:rPr lang="en-US" altLang="zh-CN" dirty="0"/>
              <a:t>C</a:t>
            </a:r>
            <a:r>
              <a:rPr lang="zh-CN" altLang="en-US" dirty="0"/>
              <a:t>语言尝试开发大型程序</a:t>
            </a:r>
            <a:endParaRPr lang="en-US" altLang="zh-CN" dirty="0"/>
          </a:p>
          <a:p>
            <a:r>
              <a:rPr lang="zh-CN" altLang="en-US" dirty="0"/>
              <a:t>掌握从需求分析、设计、实现、测试的完整开发过程</a:t>
            </a:r>
            <a:endParaRPr lang="en-US" altLang="zh-CN" dirty="0"/>
          </a:p>
          <a:p>
            <a:r>
              <a:rPr lang="zh-CN" altLang="en-US" dirty="0"/>
              <a:t>每人都要多次答辩（让老师看程序、回答问题等）</a:t>
            </a:r>
            <a:endParaRPr lang="en-US" altLang="zh-CN" dirty="0"/>
          </a:p>
          <a:p>
            <a:r>
              <a:rPr lang="zh-CN" altLang="en-US" dirty="0"/>
              <a:t>每人都要撰写项目报告（电子版即可，老师将在第</a:t>
            </a:r>
            <a:r>
              <a:rPr lang="en-US" altLang="zh-CN" dirty="0"/>
              <a:t>15</a:t>
            </a:r>
            <a:r>
              <a:rPr lang="zh-CN" altLang="en-US" dirty="0"/>
              <a:t>周提供模板）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7E8E9A-137C-5C43-912A-50AD6718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988578-6854-1ABF-A1FE-6D7E1E4BE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6B26A9-8D5B-999D-F793-30DFFE1D3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4715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6699E9-0BE4-C754-A008-6BAF25476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评分等级（</a:t>
            </a:r>
            <a:r>
              <a:rPr lang="en-US" altLang="zh-CN" dirty="0"/>
              <a:t>10</a:t>
            </a:r>
            <a:r>
              <a:rPr lang="zh-CN" altLang="en-US" dirty="0"/>
              <a:t>个）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6A0F24-34DA-0BA3-4E21-373DFBFC0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A+ (98-100)</a:t>
            </a:r>
            <a:r>
              <a:rPr lang="zh-CN" altLang="en-US" dirty="0"/>
              <a:t>、</a:t>
            </a:r>
            <a:r>
              <a:rPr lang="en-US" altLang="zh-CN" dirty="0"/>
              <a:t>A (94-97)</a:t>
            </a:r>
            <a:r>
              <a:rPr lang="zh-CN" altLang="en-US" dirty="0"/>
              <a:t>、</a:t>
            </a:r>
            <a:r>
              <a:rPr lang="en-US" altLang="zh-CN" dirty="0"/>
              <a:t>A- (90-93)</a:t>
            </a:r>
          </a:p>
          <a:p>
            <a:r>
              <a:rPr lang="en-US" altLang="zh-CN" dirty="0"/>
              <a:t>B+ (85-89)</a:t>
            </a:r>
            <a:r>
              <a:rPr lang="zh-CN" altLang="en-US" dirty="0"/>
              <a:t>、  </a:t>
            </a:r>
            <a:r>
              <a:rPr lang="en-US" altLang="zh-CN" dirty="0"/>
              <a:t>B (80-84)</a:t>
            </a:r>
            <a:r>
              <a:rPr lang="zh-CN" altLang="en-US" dirty="0"/>
              <a:t>、 </a:t>
            </a:r>
            <a:r>
              <a:rPr lang="en-US" altLang="zh-CN" dirty="0"/>
              <a:t>B- (75-79)</a:t>
            </a:r>
          </a:p>
          <a:p>
            <a:r>
              <a:rPr lang="en-US" altLang="zh-CN" dirty="0"/>
              <a:t>C+ (70-74)</a:t>
            </a:r>
            <a:r>
              <a:rPr lang="zh-CN" altLang="en-US" dirty="0"/>
              <a:t>、  </a:t>
            </a:r>
            <a:r>
              <a:rPr lang="en-US" altLang="zh-CN" dirty="0"/>
              <a:t>C(65-69)</a:t>
            </a:r>
            <a:r>
              <a:rPr lang="zh-CN" altLang="en-US" dirty="0"/>
              <a:t>、  </a:t>
            </a:r>
            <a:r>
              <a:rPr lang="en-US" altLang="zh-CN" dirty="0"/>
              <a:t>C-(60-64)</a:t>
            </a:r>
          </a:p>
          <a:p>
            <a:r>
              <a:rPr lang="en-US" altLang="zh-CN" dirty="0"/>
              <a:t>D</a:t>
            </a:r>
            <a:r>
              <a:rPr lang="zh-CN" altLang="en-US" dirty="0"/>
              <a:t>（不及格）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4B76BB-C5BE-2249-9CF0-62952B805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B7AC88-B89D-A9D4-8441-C28C33E92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6FBA8C-5757-2F06-789D-9C1C5B448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5290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C20E5C-3906-9B30-6AB6-F889D066B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评分办法：由老师主观打分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6EC72B-DF71-ACBB-C311-CDEA46DE9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0873"/>
            <a:ext cx="10515600" cy="4854190"/>
          </a:xfrm>
        </p:spPr>
        <p:txBody>
          <a:bodyPr>
            <a:normAutofit/>
          </a:bodyPr>
          <a:lstStyle/>
          <a:p>
            <a:r>
              <a:rPr lang="zh-CN" altLang="en-US" dirty="0"/>
              <a:t>每人多次让老师看程序并答辩，包括回答问题、优化程序、改错、增加功能、做附加题等</a:t>
            </a:r>
            <a:endParaRPr lang="en-US" altLang="zh-CN" dirty="0"/>
          </a:p>
          <a:p>
            <a:r>
              <a:rPr lang="zh-CN" altLang="en-US" dirty="0"/>
              <a:t>评分依据包括：源代码、表达能力、对程序设计的理解、项目报告等多个方面</a:t>
            </a:r>
            <a:endParaRPr lang="en-US" altLang="zh-CN" dirty="0"/>
          </a:p>
          <a:p>
            <a:r>
              <a:rPr lang="zh-CN" altLang="en-US" dirty="0"/>
              <a:t>老师尽力给出准确的评分，但无法做到绝对公平，请同学们多多理解！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D79D45-7E04-9AA8-E7FC-CE3166232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EE3257-448A-1B78-F354-AFEDEE07A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5665D4-21A4-EE5E-5F30-E915DD4E9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5091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477C8D-518A-A16E-D5D3-6291E2ACA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多次答辩，最后一次的分数是最终成绩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5AD3C1-6610-0F64-3C57-FF7C16496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60873"/>
            <a:ext cx="10753725" cy="4854190"/>
          </a:xfrm>
        </p:spPr>
        <p:txBody>
          <a:bodyPr>
            <a:normAutofit/>
          </a:bodyPr>
          <a:lstStyle/>
          <a:p>
            <a:r>
              <a:rPr lang="zh-CN" altLang="en-US" dirty="0"/>
              <a:t>题目提前一个月布置，请同学们尽力在第</a:t>
            </a:r>
            <a:r>
              <a:rPr lang="en-US" altLang="zh-CN" dirty="0"/>
              <a:t>11</a:t>
            </a:r>
            <a:r>
              <a:rPr lang="zh-CN" altLang="en-US" dirty="0"/>
              <a:t>周之前实现程序的基本功能</a:t>
            </a:r>
            <a:endParaRPr lang="en-US" altLang="zh-CN" dirty="0"/>
          </a:p>
          <a:p>
            <a:r>
              <a:rPr lang="zh-CN" altLang="en-US" dirty="0"/>
              <a:t>从第</a:t>
            </a:r>
            <a:r>
              <a:rPr lang="en-US" altLang="zh-CN" dirty="0"/>
              <a:t>11</a:t>
            </a:r>
            <a:r>
              <a:rPr lang="zh-CN" altLang="en-US" dirty="0"/>
              <a:t>周开始，请主动多次找老师打分并答辩</a:t>
            </a:r>
            <a:endParaRPr lang="en-US" altLang="zh-CN" dirty="0"/>
          </a:p>
          <a:p>
            <a:r>
              <a:rPr lang="zh-CN" altLang="en-US" dirty="0"/>
              <a:t>第</a:t>
            </a:r>
            <a:r>
              <a:rPr lang="en-US" altLang="zh-CN" dirty="0"/>
              <a:t>11-16</a:t>
            </a:r>
            <a:r>
              <a:rPr lang="zh-CN" altLang="en-US" dirty="0"/>
              <a:t>周，老师不讲课，只看同学们的程序</a:t>
            </a:r>
            <a:endParaRPr lang="en-US" altLang="zh-CN" dirty="0"/>
          </a:p>
          <a:p>
            <a:r>
              <a:rPr lang="zh-CN" altLang="en-US" dirty="0"/>
              <a:t>打分不是目的，老师通过评价你的程序帮助你提高，所以多次打分，只有最后一次分数有效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63F47F-E54D-7D31-0704-B2096A764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5E74EA-0ECB-D5DB-9D00-829AEE9C0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C1C68D-377F-12CD-F6FA-36550A097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9121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B39C66-C614-ED40-B67D-E6BF97CD0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注意答辩时间对成绩的影响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019B7E-CBF5-340D-C113-0DE8D9FEF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11</a:t>
            </a:r>
            <a:r>
              <a:rPr lang="zh-CN" altLang="en-US" dirty="0"/>
              <a:t>周星期一</a:t>
            </a:r>
            <a:r>
              <a:rPr lang="en-US" altLang="zh-CN" dirty="0"/>
              <a:t>16:00</a:t>
            </a:r>
            <a:r>
              <a:rPr lang="zh-CN" altLang="en-US" dirty="0"/>
              <a:t>之前不答辩的，不给</a:t>
            </a:r>
            <a:r>
              <a:rPr lang="en-US" altLang="zh-CN" dirty="0"/>
              <a:t>A+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11</a:t>
            </a:r>
            <a:r>
              <a:rPr lang="zh-CN" altLang="en-US" dirty="0"/>
              <a:t>周星期三</a:t>
            </a:r>
            <a:r>
              <a:rPr lang="en-US" altLang="zh-CN" dirty="0"/>
              <a:t>16:00</a:t>
            </a:r>
            <a:r>
              <a:rPr lang="zh-CN" altLang="en-US" dirty="0"/>
              <a:t>之前不答辩的，不给</a:t>
            </a:r>
            <a:r>
              <a:rPr lang="en-US" altLang="zh-CN" dirty="0"/>
              <a:t>A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14</a:t>
            </a:r>
            <a:r>
              <a:rPr lang="zh-CN" altLang="en-US" dirty="0"/>
              <a:t>周星期一</a:t>
            </a:r>
            <a:r>
              <a:rPr lang="en-US" altLang="zh-CN" dirty="0"/>
              <a:t>17:00</a:t>
            </a:r>
            <a:r>
              <a:rPr lang="zh-CN" altLang="en-US" dirty="0"/>
              <a:t>之前不答辩的，不给</a:t>
            </a:r>
            <a:r>
              <a:rPr lang="en-US" altLang="zh-CN" dirty="0"/>
              <a:t>A-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14</a:t>
            </a:r>
            <a:r>
              <a:rPr lang="zh-CN" altLang="en-US" dirty="0"/>
              <a:t>周星期三</a:t>
            </a:r>
            <a:r>
              <a:rPr lang="en-US" altLang="zh-CN" dirty="0"/>
              <a:t>17:00</a:t>
            </a:r>
            <a:r>
              <a:rPr lang="zh-CN" altLang="en-US" dirty="0"/>
              <a:t>之前不答辩的，不给</a:t>
            </a:r>
            <a:r>
              <a:rPr lang="en-US" altLang="zh-CN" dirty="0"/>
              <a:t>B+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15</a:t>
            </a:r>
            <a:r>
              <a:rPr lang="zh-CN" altLang="en-US" dirty="0"/>
              <a:t>周星期一</a:t>
            </a:r>
            <a:r>
              <a:rPr lang="en-US" altLang="zh-CN" dirty="0"/>
              <a:t>17:00</a:t>
            </a:r>
            <a:r>
              <a:rPr lang="zh-CN" altLang="en-US" dirty="0"/>
              <a:t>之前不答辩的，不给</a:t>
            </a:r>
            <a:r>
              <a:rPr lang="en-US" altLang="zh-CN" dirty="0"/>
              <a:t>B</a:t>
            </a:r>
          </a:p>
          <a:p>
            <a:r>
              <a:rPr lang="zh-CN" altLang="en-US" b="1" dirty="0"/>
              <a:t>第</a:t>
            </a:r>
            <a:r>
              <a:rPr lang="en-US" altLang="zh-CN" b="1" dirty="0"/>
              <a:t>15</a:t>
            </a:r>
            <a:r>
              <a:rPr lang="zh-CN" altLang="en-US" b="1" dirty="0"/>
              <a:t>周星期三</a:t>
            </a:r>
            <a:r>
              <a:rPr lang="en-US" altLang="zh-CN" b="1" dirty="0"/>
              <a:t>17:00</a:t>
            </a:r>
            <a:r>
              <a:rPr lang="zh-CN" altLang="en-US" b="1" dirty="0"/>
              <a:t>之前还不答辩的，不及格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903CBC-FC96-4F61-55C0-45A30AEE8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1E4E13-D010-F64D-1F3A-C0BCD81D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E6B250-4584-0D1D-E6AD-0B1C63B50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2944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E4061-A661-A3C2-B636-B705861F0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983C68-2D67-6B6E-D5A4-0A6908EB9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注意答辩时间对成绩的影响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1B27C8-09C9-5275-1A36-CF07F9678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60873"/>
            <a:ext cx="10967085" cy="4854190"/>
          </a:xfrm>
        </p:spPr>
        <p:txBody>
          <a:bodyPr>
            <a:norm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16</a:t>
            </a:r>
            <a:r>
              <a:rPr lang="zh-CN" altLang="en-US" b="1" dirty="0"/>
              <a:t>周（最后一周）不给优秀成绩（</a:t>
            </a:r>
            <a:r>
              <a:rPr lang="en-US" altLang="zh-CN" b="1" dirty="0"/>
              <a:t>A-</a:t>
            </a:r>
            <a:r>
              <a:rPr lang="zh-CN" altLang="en-US" b="1" dirty="0"/>
              <a:t>、</a:t>
            </a:r>
            <a:r>
              <a:rPr lang="en-US" altLang="zh-CN" b="1" dirty="0"/>
              <a:t>A</a:t>
            </a:r>
            <a:r>
              <a:rPr lang="zh-CN" altLang="en-US" b="1" dirty="0"/>
              <a:t>、</a:t>
            </a:r>
            <a:r>
              <a:rPr lang="en-US" altLang="zh-CN" b="1" dirty="0"/>
              <a:t>A+</a:t>
            </a:r>
            <a:r>
              <a:rPr lang="zh-CN" altLang="en-US" b="1" dirty="0"/>
              <a:t>）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132ED8-26B1-C0FA-4D33-61159C980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D81A91-78D2-0465-8875-1C212D6E7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AA68FF-0BF8-F6B7-563D-8CAB7BC39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2769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3F2879-05B5-5929-3DBA-B61967E57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特别提醒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816ED4-29EB-FD77-500C-36F143CD0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0873"/>
            <a:ext cx="10420350" cy="4854190"/>
          </a:xfrm>
        </p:spPr>
        <p:txBody>
          <a:bodyPr/>
          <a:lstStyle/>
          <a:p>
            <a:r>
              <a:rPr lang="zh-CN" altLang="en-US" dirty="0"/>
              <a:t>因为班级人数太多，所以请尽早让老师看程序，拖到后面需要排长队，可能来不及</a:t>
            </a:r>
            <a:endParaRPr lang="en-US" altLang="zh-CN" dirty="0"/>
          </a:p>
          <a:p>
            <a:r>
              <a:rPr lang="zh-CN" altLang="en-US" dirty="0"/>
              <a:t>经验表明，得</a:t>
            </a:r>
            <a:r>
              <a:rPr lang="en-US" altLang="zh-CN" dirty="0"/>
              <a:t>A</a:t>
            </a:r>
            <a:r>
              <a:rPr lang="zh-CN" altLang="en-US" dirty="0"/>
              <a:t>的同学一般需要经过</a:t>
            </a: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次答辩</a:t>
            </a:r>
            <a:endParaRPr lang="en-US" altLang="zh-CN" dirty="0"/>
          </a:p>
          <a:p>
            <a:r>
              <a:rPr lang="zh-CN" altLang="en-US" dirty="0"/>
              <a:t>在一次课上，不管让老师看多少次程序，最多只能算一次答辩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4A1C22-5779-443A-8F8A-EE6921969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BFA71A-AC5D-A505-2AD0-00F01C876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CE789A-B453-B167-8CC9-A30DEE6BB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195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0794BD-193F-FB28-513A-0F785DF23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评分标准</a:t>
            </a:r>
            <a:r>
              <a:rPr lang="en-US" altLang="zh-CN" dirty="0"/>
              <a:t>D(</a:t>
            </a:r>
            <a:r>
              <a:rPr lang="zh-CN" altLang="en-US" dirty="0"/>
              <a:t>不及格）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61B840-F6C7-FE93-34D2-528206614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凡有下列情形之一者，判为不及格</a:t>
            </a:r>
            <a:endParaRPr lang="en-US" altLang="zh-CN" dirty="0"/>
          </a:p>
          <a:p>
            <a:pPr lvl="1"/>
            <a:r>
              <a:rPr lang="zh-CN" altLang="en-US" dirty="0"/>
              <a:t>抄袭（鼓励相互讨论，但不能抄袭代码）</a:t>
            </a:r>
            <a:endParaRPr lang="en-US" altLang="zh-CN" dirty="0"/>
          </a:p>
          <a:p>
            <a:pPr lvl="1"/>
            <a:r>
              <a:rPr lang="zh-CN" altLang="en-US" dirty="0"/>
              <a:t>不遵守编程规范（代码风格见</a:t>
            </a:r>
            <a:r>
              <a:rPr lang="en-US" altLang="zh-CN" dirty="0"/>
              <a:t>P47Skeleton.c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不能实现程序的基本功能</a:t>
            </a:r>
            <a:endParaRPr lang="en-US" altLang="zh-CN" dirty="0"/>
          </a:p>
          <a:p>
            <a:pPr lvl="1"/>
            <a:r>
              <a:rPr lang="zh-CN" altLang="en-US" dirty="0"/>
              <a:t>首次答辩晚于第</a:t>
            </a:r>
            <a:r>
              <a:rPr lang="en-US" altLang="zh-CN" dirty="0"/>
              <a:t>15</a:t>
            </a:r>
            <a:r>
              <a:rPr lang="zh-CN" altLang="en-US" dirty="0"/>
              <a:t>周的星期三</a:t>
            </a:r>
            <a:endParaRPr lang="en-US" altLang="zh-CN" dirty="0"/>
          </a:p>
          <a:p>
            <a:pPr lvl="1"/>
            <a:r>
              <a:rPr lang="zh-CN" altLang="en-US" dirty="0"/>
              <a:t>答辩次数少于两次</a:t>
            </a:r>
            <a:endParaRPr lang="en-US" altLang="zh-CN" dirty="0"/>
          </a:p>
          <a:p>
            <a:pPr lvl="1"/>
            <a:r>
              <a:rPr lang="zh-CN" altLang="en-US" dirty="0"/>
              <a:t>不写项目报告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01B182-40AE-2D25-0555-2B7E83CB0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6131C7-1557-F4A1-22FE-9DA80D7E3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C950DE-F421-C41B-12BD-9C51A5CF5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3492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F8E77-F802-30C2-DB3C-E05C0DE9B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A906A6-F155-6DFD-66DF-5FAD9ED6E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评分标准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E5B32B-643D-15E3-39ED-88E7A49E1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必须同时满足下述条件</a:t>
            </a:r>
            <a:endParaRPr lang="en-US" altLang="zh-CN" dirty="0"/>
          </a:p>
          <a:p>
            <a:pPr lvl="1"/>
            <a:r>
              <a:rPr lang="zh-CN" altLang="en-US" dirty="0"/>
              <a:t>首次答辩不晚于第</a:t>
            </a:r>
            <a:r>
              <a:rPr lang="en-US" altLang="zh-CN" dirty="0"/>
              <a:t>15</a:t>
            </a:r>
            <a:r>
              <a:rPr lang="zh-CN" altLang="en-US" dirty="0"/>
              <a:t>周的星期三</a:t>
            </a:r>
            <a:endParaRPr lang="en-US" altLang="zh-CN" dirty="0"/>
          </a:p>
          <a:p>
            <a:pPr lvl="1"/>
            <a:r>
              <a:rPr lang="zh-CN" altLang="en-US" dirty="0"/>
              <a:t>答辩次数不少于两次</a:t>
            </a:r>
            <a:endParaRPr lang="en-US" altLang="zh-CN" dirty="0"/>
          </a:p>
          <a:p>
            <a:pPr lvl="1"/>
            <a:r>
              <a:rPr lang="zh-CN" altLang="en-US" dirty="0"/>
              <a:t>遵守编程规范</a:t>
            </a:r>
            <a:endParaRPr lang="en-US" altLang="zh-CN" dirty="0"/>
          </a:p>
          <a:p>
            <a:pPr lvl="1"/>
            <a:r>
              <a:rPr lang="zh-CN" altLang="en-US" dirty="0"/>
              <a:t>能够实现程序的基本功能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AD4C39-D57D-4018-4A5D-F2718CE8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139416-36D6-99D5-976E-69D509943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7009BC-1923-4C28-67A4-8C6C43A4E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1365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B40D6-1D2F-3404-FB9A-D0B47CC1E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A3854B-D89F-FE4E-468F-15089DE1A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评分标准</a:t>
            </a:r>
            <a:r>
              <a:rPr lang="en-US" altLang="zh-CN" dirty="0"/>
              <a:t>B-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CFEB3F-2EA8-BC9D-BB86-6F6F81DBC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必须同时满足下述条件</a:t>
            </a:r>
            <a:endParaRPr lang="en-US" altLang="zh-CN" dirty="0"/>
          </a:p>
          <a:p>
            <a:pPr lvl="1"/>
            <a:r>
              <a:rPr lang="zh-CN" altLang="en-US" dirty="0"/>
              <a:t>首次答辩不晚于第</a:t>
            </a:r>
            <a:r>
              <a:rPr lang="en-US" altLang="zh-CN" dirty="0"/>
              <a:t>15</a:t>
            </a:r>
            <a:r>
              <a:rPr lang="zh-CN" altLang="en-US" dirty="0"/>
              <a:t>周的星期三</a:t>
            </a:r>
            <a:endParaRPr lang="en-US" altLang="zh-CN" dirty="0"/>
          </a:p>
          <a:p>
            <a:pPr lvl="1"/>
            <a:r>
              <a:rPr lang="zh-CN" altLang="en-US" dirty="0"/>
              <a:t>达到</a:t>
            </a:r>
            <a:r>
              <a:rPr lang="en-US" altLang="zh-CN" dirty="0"/>
              <a:t>C</a:t>
            </a:r>
            <a:r>
              <a:rPr lang="zh-CN" altLang="en-US" dirty="0"/>
              <a:t>标准</a:t>
            </a:r>
            <a:endParaRPr lang="en-US" altLang="zh-CN" dirty="0"/>
          </a:p>
          <a:p>
            <a:pPr lvl="1"/>
            <a:r>
              <a:rPr lang="zh-CN" altLang="en-US" dirty="0"/>
              <a:t>程序能正确运行</a:t>
            </a:r>
            <a:endParaRPr lang="en-US" altLang="zh-CN" dirty="0"/>
          </a:p>
          <a:p>
            <a:pPr lvl="1"/>
            <a:r>
              <a:rPr lang="zh-CN" altLang="en-US" dirty="0"/>
              <a:t>能够正确理解程序设计中的各种概念</a:t>
            </a:r>
            <a:endParaRPr lang="en-US" altLang="zh-CN" dirty="0"/>
          </a:p>
          <a:p>
            <a:pPr lvl="1"/>
            <a:r>
              <a:rPr lang="zh-CN" altLang="en-US" dirty="0"/>
              <a:t>能够正确理解从分析、设计、编码、测试的完整开发过程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E92607-C306-BE3C-6BE4-F100A2B3A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6E4D5D-68D6-94D5-EA9A-84ED011A6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E12475-873B-F37F-A855-04A47E134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5344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746A4-F661-101A-9539-16FD885A1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30D59A-9C4D-E0D5-9C8C-19103C408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评分标准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28BD8E-FC03-2EA9-23CE-1C8B2FFD4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必须同时满足下述条件</a:t>
            </a:r>
            <a:endParaRPr lang="en-US" altLang="zh-CN" dirty="0"/>
          </a:p>
          <a:p>
            <a:pPr lvl="1"/>
            <a:r>
              <a:rPr lang="zh-CN" altLang="en-US" dirty="0"/>
              <a:t>首次答辩不晚于第</a:t>
            </a:r>
            <a:r>
              <a:rPr lang="en-US" altLang="zh-CN" dirty="0"/>
              <a:t>15</a:t>
            </a:r>
            <a:r>
              <a:rPr lang="zh-CN" altLang="en-US" dirty="0"/>
              <a:t>周的星期一</a:t>
            </a:r>
            <a:endParaRPr lang="en-US" altLang="zh-CN" dirty="0"/>
          </a:p>
          <a:p>
            <a:pPr lvl="1"/>
            <a:r>
              <a:rPr lang="zh-CN" altLang="en-US" dirty="0"/>
              <a:t>达到</a:t>
            </a:r>
            <a:r>
              <a:rPr lang="en-US" altLang="zh-CN" dirty="0"/>
              <a:t>B-</a:t>
            </a:r>
            <a:r>
              <a:rPr lang="zh-CN" altLang="en-US" dirty="0"/>
              <a:t>标准</a:t>
            </a:r>
            <a:endParaRPr lang="en-US" altLang="zh-CN" dirty="0"/>
          </a:p>
          <a:p>
            <a:pPr lvl="1"/>
            <a:r>
              <a:rPr lang="zh-CN" altLang="en-US" dirty="0"/>
              <a:t>能够做到结构化设计</a:t>
            </a:r>
            <a:endParaRPr lang="en-US" altLang="zh-CN" dirty="0"/>
          </a:p>
          <a:p>
            <a:pPr lvl="1"/>
            <a:r>
              <a:rPr lang="zh-CN" altLang="en-US" dirty="0"/>
              <a:t>有自定义的调试模式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7272A7-0DD6-A54E-B632-01D2B2E7D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F96006-6D78-A081-1790-945B6CDAB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1A4DA6-4A92-DBDF-894E-2DCCF1EE2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2657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928E5-F1A5-F15F-582E-5648DEC5E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E511EF-F24E-52D3-0FF0-C02EC332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评分标准</a:t>
            </a:r>
            <a:r>
              <a:rPr lang="en-US" altLang="zh-CN" dirty="0"/>
              <a:t>B+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138B74-9846-295E-BB5E-615A1FED9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必须同时满足下述条件</a:t>
            </a:r>
            <a:endParaRPr lang="en-US" altLang="zh-CN" dirty="0"/>
          </a:p>
          <a:p>
            <a:pPr lvl="1"/>
            <a:r>
              <a:rPr lang="zh-CN" altLang="en-US" dirty="0"/>
              <a:t>首次答辩不晚于第</a:t>
            </a:r>
            <a:r>
              <a:rPr lang="en-US" altLang="zh-CN" dirty="0"/>
              <a:t>14</a:t>
            </a:r>
            <a:r>
              <a:rPr lang="zh-CN" altLang="en-US" dirty="0"/>
              <a:t>周的星期三</a:t>
            </a:r>
            <a:endParaRPr lang="en-US" altLang="zh-CN" dirty="0"/>
          </a:p>
          <a:p>
            <a:pPr lvl="1"/>
            <a:r>
              <a:rPr lang="zh-CN" altLang="en-US" dirty="0"/>
              <a:t>达到</a:t>
            </a:r>
            <a:r>
              <a:rPr lang="en-US" altLang="zh-CN" dirty="0"/>
              <a:t>B</a:t>
            </a:r>
            <a:r>
              <a:rPr lang="zh-CN" altLang="en-US" dirty="0"/>
              <a:t>标准</a:t>
            </a:r>
            <a:endParaRPr lang="en-US" altLang="zh-CN" dirty="0"/>
          </a:p>
          <a:p>
            <a:pPr lvl="1"/>
            <a:r>
              <a:rPr lang="zh-CN" altLang="en-US" dirty="0"/>
              <a:t>程序具有非常好的可读性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A60C8A-D7BB-522A-4C6D-8C75C66F0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7A1244-6DCA-9634-6FA4-DDCC3B8D1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4EA4BB-A0D7-A90D-7EF8-09917DCAC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6211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A1ED8-D35D-27F9-4F07-434D2D4D0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4A734-4128-F626-D8F5-6FD0F2EE6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评分标准</a:t>
            </a:r>
            <a:r>
              <a:rPr lang="en-US" altLang="zh-CN" dirty="0"/>
              <a:t>A-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CD2377-DE3F-6505-5E9C-48168D51E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必须同时满足下述条件</a:t>
            </a:r>
            <a:endParaRPr lang="en-US" altLang="zh-CN" dirty="0"/>
          </a:p>
          <a:p>
            <a:pPr lvl="1"/>
            <a:r>
              <a:rPr lang="zh-CN" altLang="en-US" dirty="0"/>
              <a:t>首次答辩不晚于第</a:t>
            </a:r>
            <a:r>
              <a:rPr lang="en-US" altLang="zh-CN" dirty="0"/>
              <a:t>14</a:t>
            </a:r>
            <a:r>
              <a:rPr lang="zh-CN" altLang="en-US" dirty="0"/>
              <a:t>周的星期一</a:t>
            </a:r>
            <a:endParaRPr lang="en-US" altLang="zh-CN" dirty="0"/>
          </a:p>
          <a:p>
            <a:pPr lvl="1"/>
            <a:r>
              <a:rPr lang="zh-CN" altLang="en-US" dirty="0"/>
              <a:t>达到</a:t>
            </a:r>
            <a:r>
              <a:rPr lang="en-US" altLang="zh-CN" dirty="0"/>
              <a:t>B+</a:t>
            </a:r>
            <a:r>
              <a:rPr lang="zh-CN" altLang="en-US" dirty="0"/>
              <a:t>标准</a:t>
            </a:r>
            <a:endParaRPr lang="en-US" altLang="zh-CN" dirty="0"/>
          </a:p>
          <a:p>
            <a:pPr lvl="1"/>
            <a:r>
              <a:rPr lang="zh-CN" altLang="en-US" dirty="0"/>
              <a:t>程序经过全面的测试，具有非常好的健壮性</a:t>
            </a:r>
            <a:endParaRPr lang="en-US" altLang="zh-CN" dirty="0"/>
          </a:p>
          <a:p>
            <a:pPr lvl="1"/>
            <a:r>
              <a:rPr lang="zh-CN" altLang="en-US" dirty="0"/>
              <a:t>能准确回答问题、快速改错、正确添加功能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254918-E137-601D-9EDB-404433823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2794F8-83EE-1614-013B-C340FB291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ECF41D-D12D-3143-90F8-01791526A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6485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95067-8012-2300-563D-60501236E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85EE4-AE78-3848-0F2A-08D6594CA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评分标准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1B1768-0813-ADEC-2F06-48B1AED03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必须同时满足下述条件</a:t>
            </a:r>
            <a:endParaRPr lang="en-US" altLang="zh-CN" dirty="0"/>
          </a:p>
          <a:p>
            <a:pPr lvl="1"/>
            <a:r>
              <a:rPr lang="zh-CN" altLang="en-US" dirty="0"/>
              <a:t>首次答辩不晚于第</a:t>
            </a:r>
            <a:r>
              <a:rPr lang="en-US" altLang="zh-CN" dirty="0"/>
              <a:t>11</a:t>
            </a:r>
            <a:r>
              <a:rPr lang="zh-CN" altLang="en-US" dirty="0"/>
              <a:t>周的星期三</a:t>
            </a:r>
            <a:endParaRPr lang="en-US" altLang="zh-CN" dirty="0"/>
          </a:p>
          <a:p>
            <a:pPr lvl="1"/>
            <a:r>
              <a:rPr lang="zh-CN" altLang="en-US" dirty="0"/>
              <a:t>达到</a:t>
            </a:r>
            <a:r>
              <a:rPr lang="en-US" altLang="zh-CN" dirty="0"/>
              <a:t>A-</a:t>
            </a:r>
            <a:r>
              <a:rPr lang="zh-CN" altLang="en-US" dirty="0"/>
              <a:t>标准</a:t>
            </a:r>
            <a:endParaRPr lang="en-US" altLang="zh-CN" dirty="0"/>
          </a:p>
          <a:p>
            <a:pPr lvl="1"/>
            <a:r>
              <a:rPr lang="zh-CN" altLang="en-US" dirty="0"/>
              <a:t>程序完美，无可挑剔</a:t>
            </a:r>
            <a:endParaRPr lang="en-US" altLang="zh-CN" dirty="0"/>
          </a:p>
          <a:p>
            <a:pPr lvl="1"/>
            <a:r>
              <a:rPr lang="zh-CN" altLang="en-US" dirty="0"/>
              <a:t>能快速并正确地做出附加题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048F9C-9842-B311-FB21-3AC9A0F59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7C1B45-1A17-76DC-0C9D-5F42E9222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244A48-B8E1-BBC4-73CB-9CB5B63FB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6854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69409-374A-5500-1D70-FE381A9D4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868213-BC3F-E27A-DDD6-A1AC195D1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评分标准</a:t>
            </a:r>
            <a:r>
              <a:rPr lang="en-US" altLang="zh-CN" dirty="0"/>
              <a:t>A+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BEE600-FE8B-36FE-B296-F65C2E867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必须同时满足下述条件</a:t>
            </a:r>
            <a:endParaRPr lang="en-US" altLang="zh-CN" dirty="0"/>
          </a:p>
          <a:p>
            <a:pPr lvl="1"/>
            <a:r>
              <a:rPr lang="zh-CN" altLang="en-US" dirty="0"/>
              <a:t>首次答辩不晚于第</a:t>
            </a:r>
            <a:r>
              <a:rPr lang="en-US" altLang="zh-CN" dirty="0"/>
              <a:t>11</a:t>
            </a:r>
            <a:r>
              <a:rPr lang="zh-CN" altLang="en-US" dirty="0"/>
              <a:t>周的星期一</a:t>
            </a:r>
            <a:endParaRPr lang="en-US" altLang="zh-CN" dirty="0"/>
          </a:p>
          <a:p>
            <a:pPr lvl="1"/>
            <a:r>
              <a:rPr lang="zh-CN" altLang="en-US" dirty="0"/>
              <a:t>达到</a:t>
            </a:r>
            <a:r>
              <a:rPr lang="en-US" altLang="zh-CN" dirty="0"/>
              <a:t>A</a:t>
            </a:r>
            <a:r>
              <a:rPr lang="zh-CN" altLang="en-US" dirty="0"/>
              <a:t>标准</a:t>
            </a:r>
            <a:endParaRPr lang="en-US" altLang="zh-CN" dirty="0"/>
          </a:p>
          <a:p>
            <a:pPr lvl="1"/>
            <a:r>
              <a:rPr lang="zh-CN" altLang="en-US" sz="6600" b="1" dirty="0"/>
              <a:t>可以应付老师的各种刁难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AA94B4-6DEE-81E2-090C-AA52D7F0F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7EAC78-065E-ED6E-7C95-3F427770A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126A49-E57B-580C-81AB-74F0B868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6714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D18DFD7B-6336-181E-FE02-657BA48D75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丑媳妇早晚得见公婆尽早让老师看程序</a:t>
            </a:r>
          </a:p>
        </p:txBody>
      </p:sp>
      <p:sp>
        <p:nvSpPr>
          <p:cNvPr id="8" name="副标题 7">
            <a:extLst>
              <a:ext uri="{FF2B5EF4-FFF2-40B4-BE49-F238E27FC236}">
                <a16:creationId xmlns:a16="http://schemas.microsoft.com/office/drawing/2014/main" id="{CF6A54CA-0198-ACE1-6D7A-F0229462CF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这样老师才能在有限的时间内</a:t>
            </a:r>
            <a:endParaRPr lang="en-US" altLang="zh-CN" dirty="0"/>
          </a:p>
          <a:p>
            <a:r>
              <a:rPr lang="zh-CN" altLang="en-US" dirty="0"/>
              <a:t>帮助你提高程序设计水平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114379-8613-B370-5FE4-8E14A6B36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CE4226-BBBF-434C-4785-EC6A75600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927F7A-3F27-B576-3F0D-8AF495087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8110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A38321-DE92-D95A-BF92-A789B3966A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实践出真知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6FB33D6-CC4A-E0E6-C63D-644C016CF9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纸上得来终觉浅   绝知此事要躬行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CEA686-C378-5307-1B2A-46BDC20B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6CAC6-0FDD-41EF-A81A-0820DD54FD25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C4DE1C-C5B8-5771-E0DC-D6FE37705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40C74E-945D-E39A-F719-CE7746170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9823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5728</TotalTime>
  <Words>1074</Words>
  <Application>Microsoft Office PowerPoint</Application>
  <PresentationFormat>宽屏</PresentationFormat>
  <Paragraphs>150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等线</vt:lpstr>
      <vt:lpstr>微软雅黑</vt:lpstr>
      <vt:lpstr>Arial</vt:lpstr>
      <vt:lpstr>Tahoma</vt:lpstr>
      <vt:lpstr>Times New Roman</vt:lpstr>
      <vt:lpstr>Wingdings</vt:lpstr>
      <vt:lpstr>Office 主题​​</vt:lpstr>
      <vt:lpstr>编程实践</vt:lpstr>
      <vt:lpstr>题目：计算器（设计思路见教材第10章）</vt:lpstr>
      <vt:lpstr>要求</vt:lpstr>
      <vt:lpstr>评分等级（10个）</vt:lpstr>
      <vt:lpstr>评分办法：由老师主观打分</vt:lpstr>
      <vt:lpstr>多次答辩，最后一次的分数是最终成绩</vt:lpstr>
      <vt:lpstr>注意答辩时间对成绩的影响</vt:lpstr>
      <vt:lpstr>注意答辩时间对成绩的影响</vt:lpstr>
      <vt:lpstr>特别提醒</vt:lpstr>
      <vt:lpstr>评分标准D(不及格）</vt:lpstr>
      <vt:lpstr>评分标准C</vt:lpstr>
      <vt:lpstr>评分标准B-</vt:lpstr>
      <vt:lpstr>评分标准B</vt:lpstr>
      <vt:lpstr>评分标准B+</vt:lpstr>
      <vt:lpstr>评分标准A-</vt:lpstr>
      <vt:lpstr>评分标准A</vt:lpstr>
      <vt:lpstr>评分标准A+</vt:lpstr>
      <vt:lpstr>丑媳妇早晚得见公婆尽早让老师看程序</vt:lpstr>
      <vt:lpstr>实践出真知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xue zhang</dc:creator>
  <cp:lastModifiedBy>xue zhang</cp:lastModifiedBy>
  <cp:revision>301</cp:revision>
  <dcterms:created xsi:type="dcterms:W3CDTF">2025-09-05T03:41:43Z</dcterms:created>
  <dcterms:modified xsi:type="dcterms:W3CDTF">2025-10-15T02:22:30Z</dcterms:modified>
</cp:coreProperties>
</file>